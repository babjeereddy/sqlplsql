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2"/>
  </p:notesMasterIdLst>
  <p:sldIdLst>
    <p:sldId id="256" r:id="rId2"/>
    <p:sldId id="257" r:id="rId3"/>
    <p:sldId id="258" r:id="rId4"/>
    <p:sldId id="292" r:id="rId5"/>
    <p:sldId id="294" r:id="rId6"/>
    <p:sldId id="293" r:id="rId7"/>
    <p:sldId id="295" r:id="rId8"/>
    <p:sldId id="296" r:id="rId9"/>
    <p:sldId id="297" r:id="rId10"/>
    <p:sldId id="271" r:id="rId11"/>
    <p:sldId id="259" r:id="rId12"/>
    <p:sldId id="260" r:id="rId13"/>
    <p:sldId id="261" r:id="rId14"/>
    <p:sldId id="298" r:id="rId15"/>
    <p:sldId id="262" r:id="rId16"/>
    <p:sldId id="301" r:id="rId17"/>
    <p:sldId id="300" r:id="rId18"/>
    <p:sldId id="299" r:id="rId19"/>
    <p:sldId id="303" r:id="rId20"/>
    <p:sldId id="302" r:id="rId21"/>
    <p:sldId id="307" r:id="rId22"/>
    <p:sldId id="304" r:id="rId23"/>
    <p:sldId id="306" r:id="rId24"/>
    <p:sldId id="305" r:id="rId25"/>
    <p:sldId id="309" r:id="rId26"/>
    <p:sldId id="312" r:id="rId27"/>
    <p:sldId id="308" r:id="rId28"/>
    <p:sldId id="310" r:id="rId29"/>
    <p:sldId id="311" r:id="rId30"/>
    <p:sldId id="313" r:id="rId31"/>
    <p:sldId id="315" r:id="rId32"/>
    <p:sldId id="314" r:id="rId33"/>
    <p:sldId id="318" r:id="rId34"/>
    <p:sldId id="317" r:id="rId35"/>
    <p:sldId id="316" r:id="rId36"/>
    <p:sldId id="282" r:id="rId37"/>
    <p:sldId id="272" r:id="rId38"/>
    <p:sldId id="273" r:id="rId39"/>
    <p:sldId id="274" r:id="rId40"/>
    <p:sldId id="275" r:id="rId41"/>
    <p:sldId id="276" r:id="rId42"/>
    <p:sldId id="269" r:id="rId43"/>
    <p:sldId id="270" r:id="rId44"/>
    <p:sldId id="277" r:id="rId45"/>
    <p:sldId id="278" r:id="rId46"/>
    <p:sldId id="279" r:id="rId47"/>
    <p:sldId id="283" r:id="rId48"/>
    <p:sldId id="319" r:id="rId49"/>
    <p:sldId id="320" r:id="rId50"/>
    <p:sldId id="321" r:id="rId51"/>
    <p:sldId id="323" r:id="rId52"/>
    <p:sldId id="322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982" autoAdjust="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CB02D-E578-4BBF-9354-E7B820E41499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A31C1-1061-48CD-B9A7-93AD9980F0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4A31C1-1061-48CD-B9A7-93AD9980F05E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7B7353D1-44BA-4D6A-BAE5-5538B785DB26}" type="datetimeFigureOut">
              <a:rPr lang="en-US" smtClean="0"/>
              <a:pPr/>
              <a:t>1/1/2010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7C92062-8F47-4765-9E8E-918E435784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puterhope.com/jargon/c/currentd.htm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Unix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04800" y="914400"/>
            <a:ext cx="8305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Unix operating system is a set of programs that act as a link between the </a:t>
            </a:r>
            <a:r>
              <a:rPr lang="en-US" dirty="0" smtClean="0"/>
              <a:t>computer and </a:t>
            </a:r>
            <a:r>
              <a:rPr lang="en-US" dirty="0"/>
              <a:t>the user.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Operating System (OS)</a:t>
            </a:r>
          </a:p>
          <a:p>
            <a:r>
              <a:rPr lang="en-US" dirty="0" smtClean="0"/>
              <a:t>An Operating System (OS) is the software that manages the sharing of the resources of a computer and provides programmers with an interface that is used to access those resources.</a:t>
            </a:r>
          </a:p>
          <a:p>
            <a:endParaRPr lang="en-US" dirty="0"/>
          </a:p>
          <a:p>
            <a:pPr marL="192069" lvl="1" indent="-190482" algn="just"/>
            <a:r>
              <a:rPr lang="en-US" b="1" u="sng" dirty="0" smtClean="0"/>
              <a:t>Functions of an OS</a:t>
            </a:r>
            <a:r>
              <a:rPr lang="en-US" b="1" dirty="0" smtClean="0"/>
              <a:t>:</a:t>
            </a:r>
          </a:p>
          <a:p>
            <a:pPr marL="192069" lvl="1" indent="-190482"/>
            <a:r>
              <a:rPr lang="en-US" dirty="0" smtClean="0"/>
              <a:t>Following are the various services provided by the Operating system:</a:t>
            </a:r>
          </a:p>
          <a:p>
            <a:pPr marL="192069" lvl="1" indent="-190482"/>
            <a:endParaRPr lang="en-US" dirty="0" smtClean="0"/>
          </a:p>
          <a:p>
            <a:pPr marL="190482" indent="-190482">
              <a:buFontTx/>
              <a:buAutoNum type="arabicPeriod"/>
            </a:pPr>
            <a:r>
              <a:rPr lang="en-US" b="1" dirty="0" smtClean="0"/>
              <a:t>Process Management:</a:t>
            </a:r>
            <a:r>
              <a:rPr lang="en-US" dirty="0" smtClean="0"/>
              <a:t> It involves creation and deletion of user and system processes, deadlock handling, and so on.</a:t>
            </a:r>
          </a:p>
          <a:p>
            <a:pPr marL="190482" indent="-190482">
              <a:buFontTx/>
              <a:buAutoNum type="arabicPeriod"/>
            </a:pPr>
            <a:endParaRPr lang="en-US" dirty="0" smtClean="0"/>
          </a:p>
          <a:p>
            <a:pPr marL="190482" indent="-190482">
              <a:buFontTx/>
              <a:buAutoNum type="arabicPeriod"/>
            </a:pPr>
            <a:r>
              <a:rPr lang="en-US" b="1" dirty="0" smtClean="0"/>
              <a:t>Main-Memory Management:</a:t>
            </a:r>
            <a:r>
              <a:rPr lang="en-US" dirty="0" smtClean="0"/>
              <a:t> It involves keeping track of the parts of memory that are being used, allocating/</a:t>
            </a:r>
            <a:r>
              <a:rPr lang="en-US" dirty="0" err="1" smtClean="0"/>
              <a:t>deallocating</a:t>
            </a:r>
            <a:r>
              <a:rPr lang="en-US" dirty="0" smtClean="0"/>
              <a:t> memory space as required, etc.</a:t>
            </a:r>
          </a:p>
          <a:p>
            <a:pPr marL="190482" indent="-190482">
              <a:buFontTx/>
              <a:buAutoNum type="arabicPeriod"/>
            </a:pPr>
            <a:endParaRPr lang="en-US" dirty="0" smtClean="0"/>
          </a:p>
          <a:p>
            <a:pPr marL="190482" indent="-190482">
              <a:buFontTx/>
              <a:buAutoNum type="arabicPeriod"/>
            </a:pPr>
            <a:r>
              <a:rPr lang="en-US" b="1" dirty="0" smtClean="0"/>
              <a:t>Secondary-Storage Management:</a:t>
            </a:r>
            <a:r>
              <a:rPr lang="en-US" dirty="0" smtClean="0"/>
              <a:t> It involves free-space management, disk scheduling, storage allocation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762001"/>
            <a:ext cx="8077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0482" indent="-190482"/>
            <a:endParaRPr lang="en-US" dirty="0" smtClean="0"/>
          </a:p>
          <a:p>
            <a:pPr marL="190482" indent="-190482"/>
            <a:r>
              <a:rPr lang="en-US" b="1" dirty="0" smtClean="0"/>
              <a:t>4.I/O System Management:</a:t>
            </a:r>
            <a:r>
              <a:rPr lang="en-US" dirty="0" smtClean="0"/>
              <a:t> It deals with hardware specific drivers for devices, keeps it all hidden from the rest of the system.</a:t>
            </a:r>
          </a:p>
          <a:p>
            <a:pPr marL="190482" indent="-190482"/>
            <a:endParaRPr lang="en-US" b="1" dirty="0" smtClean="0"/>
          </a:p>
          <a:p>
            <a:pPr marL="190482" indent="-190482"/>
            <a:endParaRPr lang="en-US" b="1" dirty="0"/>
          </a:p>
          <a:p>
            <a:pPr marL="190482" indent="-190482"/>
            <a:r>
              <a:rPr lang="en-US" b="1" dirty="0" smtClean="0"/>
              <a:t>5.File Management:</a:t>
            </a:r>
            <a:r>
              <a:rPr lang="en-US" dirty="0" smtClean="0"/>
              <a:t> It involves creating/deleting files and directories, backup, and so on.</a:t>
            </a:r>
          </a:p>
          <a:p>
            <a:pPr marL="190482" indent="-190482"/>
            <a:endParaRPr lang="en-US" b="1" dirty="0" smtClean="0"/>
          </a:p>
          <a:p>
            <a:pPr marL="190482" indent="-190482"/>
            <a:r>
              <a:rPr lang="en-US" b="1" dirty="0" smtClean="0"/>
              <a:t>6.Protection System:</a:t>
            </a:r>
            <a:r>
              <a:rPr lang="en-US" dirty="0" smtClean="0"/>
              <a:t> It involves controlling access to programs, processes, or users</a:t>
            </a:r>
          </a:p>
          <a:p>
            <a:pPr marL="190482" indent="-190482"/>
            <a:endParaRPr lang="en-US" b="1" dirty="0" smtClean="0"/>
          </a:p>
          <a:p>
            <a:pPr marL="190482" indent="-190482"/>
            <a:r>
              <a:rPr lang="en-US" b="1" dirty="0" smtClean="0"/>
              <a:t>7.Networking:</a:t>
            </a:r>
            <a:r>
              <a:rPr lang="en-US" dirty="0" smtClean="0"/>
              <a:t> It generalizes the network access.</a:t>
            </a:r>
          </a:p>
          <a:p>
            <a:pPr marL="190482" indent="-190482"/>
            <a:endParaRPr lang="en-US" b="1" dirty="0" smtClean="0"/>
          </a:p>
          <a:p>
            <a:pPr marL="190482" indent="-190482"/>
            <a:r>
              <a:rPr lang="en-US" b="1" dirty="0" smtClean="0"/>
              <a:t>8Command-Interpreter System:</a:t>
            </a:r>
            <a:r>
              <a:rPr lang="en-US" dirty="0" smtClean="0"/>
              <a:t> It provides an interface between the user and the OS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85800"/>
            <a:ext cx="7620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UNIX evolved at AT&amp;T Bell Labs in the late sixties.</a:t>
            </a:r>
          </a:p>
          <a:p>
            <a:endParaRPr lang="en-US" dirty="0" smtClean="0"/>
          </a:p>
          <a:p>
            <a:r>
              <a:rPr lang="en-US" dirty="0" smtClean="0"/>
              <a:t>The writers of Unix are Ken Thomson, Rudd </a:t>
            </a:r>
            <a:r>
              <a:rPr lang="en-US" dirty="0" err="1" smtClean="0"/>
              <a:t>Canaday</a:t>
            </a:r>
            <a:r>
              <a:rPr lang="en-US" dirty="0" smtClean="0"/>
              <a:t>, Doug </a:t>
            </a:r>
            <a:r>
              <a:rPr lang="en-US" dirty="0" err="1" smtClean="0"/>
              <a:t>McIilroy</a:t>
            </a:r>
            <a:r>
              <a:rPr lang="en-US" dirty="0" smtClean="0"/>
              <a:t>, Joe </a:t>
            </a:r>
            <a:r>
              <a:rPr lang="en-US" dirty="0" err="1" smtClean="0"/>
              <a:t>Ossanna</a:t>
            </a:r>
            <a:r>
              <a:rPr lang="en-US" dirty="0" smtClean="0"/>
              <a:t>, and Dennis Ritchie.</a:t>
            </a:r>
          </a:p>
          <a:p>
            <a:endParaRPr lang="en-US" dirty="0" smtClean="0"/>
          </a:p>
          <a:p>
            <a:r>
              <a:rPr lang="en-US" dirty="0" smtClean="0"/>
              <a:t>It was originally written as OS for PDP-7 and later for PDP-11.</a:t>
            </a:r>
          </a:p>
          <a:p>
            <a:r>
              <a:rPr lang="en-US" dirty="0" smtClean="0"/>
              <a:t>Liberal licensing: Various versions.</a:t>
            </a:r>
          </a:p>
          <a:p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are various Unix variants available in the market. Solaris Unix, AIX, HP </a:t>
            </a:r>
            <a:r>
              <a:rPr lang="en-US" dirty="0" smtClean="0"/>
              <a:t>Unix and </a:t>
            </a:r>
            <a:r>
              <a:rPr lang="en-US" dirty="0"/>
              <a:t>BSD are a few examples.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Linux </a:t>
            </a:r>
            <a:r>
              <a:rPr lang="en-US" dirty="0"/>
              <a:t>is also a flavor of Unix which is freely available</a:t>
            </a:r>
            <a:r>
              <a:rPr lang="en-US" dirty="0" smtClean="0"/>
              <a:t>. Develop by </a:t>
            </a:r>
            <a:r>
              <a:rPr lang="en-US" dirty="0" err="1" smtClean="0"/>
              <a:t>Linus</a:t>
            </a:r>
            <a:r>
              <a:rPr lang="en-US" dirty="0" smtClean="0"/>
              <a:t> </a:t>
            </a:r>
            <a:r>
              <a:rPr lang="en-US" dirty="0" err="1" smtClean="0"/>
              <a:t>Torvalds</a:t>
            </a:r>
            <a:r>
              <a:rPr lang="en-US" dirty="0" smtClean="0"/>
              <a:t> 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Several people can use a Unix computer at the same time; hence Unix is called </a:t>
            </a:r>
            <a:r>
              <a:rPr lang="en-US" dirty="0" err="1" smtClean="0"/>
              <a:t>amultiuser</a:t>
            </a:r>
            <a:r>
              <a:rPr lang="en-US" dirty="0" smtClean="0"/>
              <a:t> </a:t>
            </a:r>
            <a:r>
              <a:rPr lang="en-US" dirty="0"/>
              <a:t>system.</a:t>
            </a:r>
          </a:p>
          <a:p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user can also run multiple programs at the same time; hence Unix is </a:t>
            </a:r>
            <a:r>
              <a:rPr lang="en-US" dirty="0" smtClean="0"/>
              <a:t>a multitasking </a:t>
            </a:r>
            <a:r>
              <a:rPr lang="en-US" dirty="0"/>
              <a:t>environment.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History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Unix File </a:t>
            </a:r>
            <a:r>
              <a:rPr lang="en-US" b="1" dirty="0" smtClean="0"/>
              <a:t>System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Unix file system is a logical method of </a:t>
            </a:r>
            <a:r>
              <a:rPr lang="en-US" b="1" dirty="0" smtClean="0"/>
              <a:t>organizing and storing</a:t>
            </a:r>
            <a:r>
              <a:rPr lang="en-US" dirty="0" smtClean="0"/>
              <a:t> large amounts of information in a way that makes it easy to manage.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A file is a smallest unit in which the information is stored. 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All data in Unix is organized into files.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 All files are organized into directories.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These directories are organized into a tree-like structure called the file system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Unix System are organized into multi-level hierarchy structure known as a directory tree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At the very top of the file system is a directory called “root” which is represented by a “/”. All other files are “descendants” of root..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685800"/>
            <a:ext cx="828456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1"/>
            <a:ext cx="8610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/ : </a:t>
            </a:r>
            <a:r>
              <a:rPr lang="en-US" dirty="0" smtClean="0"/>
              <a:t>The slash / character alone denotes the root of the </a:t>
            </a:r>
            <a:r>
              <a:rPr lang="en-US" dirty="0" smtClean="0"/>
              <a:t>file system </a:t>
            </a:r>
            <a:r>
              <a:rPr lang="en-US" dirty="0" smtClean="0"/>
              <a:t>tree.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/bin : </a:t>
            </a:r>
            <a:r>
              <a:rPr lang="en-US" dirty="0" smtClean="0"/>
              <a:t>Stands for “binaries” and contains certain fundamental utilities, such as </a:t>
            </a:r>
            <a:r>
              <a:rPr lang="en-US" dirty="0" err="1" smtClean="0"/>
              <a:t>ls</a:t>
            </a:r>
            <a:r>
              <a:rPr lang="en-US" dirty="0" smtClean="0"/>
              <a:t> or cp, which are generally needed by all users.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/boot : </a:t>
            </a:r>
            <a:r>
              <a:rPr lang="en-US" dirty="0" smtClean="0"/>
              <a:t>Contains all the files that are required for successful booting process.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/dev : </a:t>
            </a:r>
            <a:r>
              <a:rPr lang="en-US" dirty="0" smtClean="0"/>
              <a:t>Stands for “devices”. Contains file representations of peripheral devices and pseudo-devices.</a:t>
            </a:r>
          </a:p>
          <a:p>
            <a:pPr fontAlgn="base"/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/etc : </a:t>
            </a:r>
            <a:r>
              <a:rPr lang="en-US" dirty="0" smtClean="0"/>
              <a:t>Contains system-wide configuration files and system databases.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/home : </a:t>
            </a:r>
            <a:r>
              <a:rPr lang="en-US" dirty="0" smtClean="0"/>
              <a:t>Contains the home directories for the users.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/lib : </a:t>
            </a:r>
            <a:r>
              <a:rPr lang="en-US" dirty="0" smtClean="0"/>
              <a:t>Contains system libraries, and some critical files such as kernel modules or device drivers.</a:t>
            </a:r>
          </a:p>
          <a:p>
            <a:pPr fontAlgn="base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4582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/media : </a:t>
            </a:r>
            <a:r>
              <a:rPr lang="en-US" dirty="0" smtClean="0"/>
              <a:t>Default mount point for removable devices, such as USB sticks, media players, etc.</a:t>
            </a:r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mnt</a:t>
            </a:r>
            <a:r>
              <a:rPr lang="en-US" b="1" dirty="0" smtClean="0"/>
              <a:t> : </a:t>
            </a:r>
            <a:r>
              <a:rPr lang="en-US" dirty="0" smtClean="0"/>
              <a:t>Stands for “mount”. Contains </a:t>
            </a:r>
            <a:r>
              <a:rPr lang="en-US" dirty="0" smtClean="0"/>
              <a:t>file system </a:t>
            </a:r>
            <a:r>
              <a:rPr lang="en-US" dirty="0" smtClean="0"/>
              <a:t>mount points.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if the system uses multiple hard disks or hard disk partitions. CD-ROM/DVD drives, and so on.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/proc : </a:t>
            </a:r>
            <a:r>
              <a:rPr lang="en-US" dirty="0" err="1" smtClean="0"/>
              <a:t>procfs</a:t>
            </a:r>
            <a:r>
              <a:rPr lang="en-US" dirty="0" smtClean="0"/>
              <a:t> virtual </a:t>
            </a:r>
            <a:r>
              <a:rPr lang="en-US" dirty="0" smtClean="0"/>
              <a:t>file system </a:t>
            </a:r>
            <a:r>
              <a:rPr lang="en-US" dirty="0" smtClean="0"/>
              <a:t>showing information about processes as files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/root : </a:t>
            </a:r>
            <a:r>
              <a:rPr lang="en-US" dirty="0" smtClean="0"/>
              <a:t>The home directory for the </a:t>
            </a:r>
            <a:r>
              <a:rPr lang="en-US" dirty="0" smtClean="0"/>
              <a:t>super user </a:t>
            </a:r>
            <a:r>
              <a:rPr lang="en-US" dirty="0" smtClean="0"/>
              <a:t>“root” – that is, the system administrator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tmp</a:t>
            </a:r>
            <a:r>
              <a:rPr lang="en-US" b="1" dirty="0" smtClean="0"/>
              <a:t> : </a:t>
            </a:r>
            <a:r>
              <a:rPr lang="en-US" dirty="0" smtClean="0"/>
              <a:t>A place for temporary files. 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usr</a:t>
            </a:r>
            <a:r>
              <a:rPr lang="en-US" b="1" dirty="0" smtClean="0"/>
              <a:t> : </a:t>
            </a:r>
            <a:r>
              <a:rPr lang="en-US" dirty="0" smtClean="0"/>
              <a:t>Originally the directory holding user home directories</a:t>
            </a:r>
            <a:r>
              <a:rPr lang="en-US" dirty="0" smtClean="0"/>
              <a:t>, its </a:t>
            </a:r>
            <a:r>
              <a:rPr lang="en-US" dirty="0" smtClean="0"/>
              <a:t>use has changed. It now holds executables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usr</a:t>
            </a:r>
            <a:r>
              <a:rPr lang="en-US" b="1" dirty="0" smtClean="0"/>
              <a:t>/bin : </a:t>
            </a:r>
            <a:r>
              <a:rPr lang="en-US" dirty="0" smtClean="0"/>
              <a:t>This directory stores all binary programs distributed with the operating system not residing in /bin, /</a:t>
            </a:r>
            <a:r>
              <a:rPr lang="en-US" dirty="0" err="1" smtClean="0"/>
              <a:t>sbin</a:t>
            </a:r>
            <a:r>
              <a:rPr lang="en-US" dirty="0" smtClean="0"/>
              <a:t> or (rarely) /etc.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usr</a:t>
            </a:r>
            <a:r>
              <a:rPr lang="en-US" b="1" dirty="0" smtClean="0"/>
              <a:t>/include : </a:t>
            </a:r>
            <a:r>
              <a:rPr lang="en-US" dirty="0" smtClean="0"/>
              <a:t>Stores the development headers used throughout the system. Header files are mostly used by the </a:t>
            </a:r>
            <a:r>
              <a:rPr lang="en-US" b="1" dirty="0" smtClean="0"/>
              <a:t>#include </a:t>
            </a:r>
            <a:r>
              <a:rPr lang="en-US" dirty="0" smtClean="0"/>
              <a:t>directive in C/C++ programming language.</a:t>
            </a:r>
          </a:p>
          <a:p>
            <a:pPr fontAlgn="base"/>
            <a:endParaRPr lang="en-US" dirty="0" smtClean="0"/>
          </a:p>
          <a:p>
            <a:pPr fontAlgn="base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610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var</a:t>
            </a:r>
            <a:r>
              <a:rPr lang="en-US" b="1" dirty="0" smtClean="0"/>
              <a:t>/log : </a:t>
            </a:r>
            <a:r>
              <a:rPr lang="en-US" dirty="0" smtClean="0"/>
              <a:t>Contains system log files.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var</a:t>
            </a:r>
            <a:r>
              <a:rPr lang="en-US" b="1" dirty="0" smtClean="0"/>
              <a:t>/mail : </a:t>
            </a:r>
            <a:r>
              <a:rPr lang="en-US" dirty="0" smtClean="0"/>
              <a:t>The place where all the incoming mails are stored.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var</a:t>
            </a:r>
            <a:r>
              <a:rPr lang="en-US" b="1" dirty="0" smtClean="0"/>
              <a:t>/spool : </a:t>
            </a:r>
            <a:r>
              <a:rPr lang="en-US" dirty="0" smtClean="0"/>
              <a:t>Spool directory. Contains print jobs, mail spools and other queued tasks.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b="1" dirty="0" smtClean="0"/>
              <a:t>/</a:t>
            </a:r>
            <a:r>
              <a:rPr lang="en-US" b="1" dirty="0" err="1" smtClean="0"/>
              <a:t>var</a:t>
            </a:r>
            <a:r>
              <a:rPr lang="en-US" b="1" dirty="0" smtClean="0"/>
              <a:t>/</a:t>
            </a:r>
            <a:r>
              <a:rPr lang="en-US" b="1" dirty="0" err="1" smtClean="0"/>
              <a:t>tmp</a:t>
            </a:r>
            <a:r>
              <a:rPr lang="en-US" b="1" dirty="0" smtClean="0"/>
              <a:t> : </a:t>
            </a:r>
            <a:r>
              <a:rPr lang="en-US" dirty="0" smtClean="0"/>
              <a:t>A place for temporary files which should be preserved between system reboots.</a:t>
            </a:r>
          </a:p>
          <a:p>
            <a:pPr fontAlgn="base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971800"/>
            <a:ext cx="438150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458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Ordinary files – </a:t>
            </a:r>
            <a:r>
              <a:rPr lang="en-US" dirty="0" smtClean="0"/>
              <a:t>An ordinary file is a file on the system that contains data, text, or program instructions.</a:t>
            </a:r>
          </a:p>
          <a:p>
            <a:endParaRPr lang="en-US" b="1" dirty="0" smtClean="0"/>
          </a:p>
          <a:p>
            <a:r>
              <a:rPr lang="en-US" b="1" dirty="0" smtClean="0"/>
              <a:t>Directories – </a:t>
            </a:r>
            <a:r>
              <a:rPr lang="en-US" dirty="0" smtClean="0"/>
              <a:t>Directories store both special and ordinary files. For users familiar with Windows or Mac OS, UNIX directories are equivalent to folders. </a:t>
            </a:r>
          </a:p>
          <a:p>
            <a:endParaRPr lang="en-US" dirty="0" smtClean="0"/>
          </a:p>
          <a:p>
            <a:r>
              <a:rPr lang="en-US" b="1" dirty="0" smtClean="0"/>
              <a:t>Special Files – </a:t>
            </a:r>
            <a:r>
              <a:rPr lang="en-US" dirty="0" smtClean="0"/>
              <a:t>Used to represent a real physical device such as a printer, tape drive or terminal, used for Input/</a:t>
            </a:r>
            <a:r>
              <a:rPr lang="en-US" dirty="0" err="1" smtClean="0"/>
              <a:t>Ouput</a:t>
            </a:r>
            <a:r>
              <a:rPr lang="en-US" dirty="0" smtClean="0"/>
              <a:t> (I/O) operations. </a:t>
            </a:r>
          </a:p>
          <a:p>
            <a:endParaRPr lang="en-US" dirty="0" smtClean="0"/>
          </a:p>
          <a:p>
            <a:r>
              <a:rPr lang="en-US" b="1" dirty="0" smtClean="0"/>
              <a:t>Pipes – </a:t>
            </a:r>
            <a:r>
              <a:rPr lang="en-US" dirty="0" smtClean="0"/>
              <a:t>UNIX allows you to link commands together using a pipe. The pipe acts a temporary file which only exists to hold data from one command until it is read by another.</a:t>
            </a:r>
          </a:p>
          <a:p>
            <a:endParaRPr lang="en-US" dirty="0" smtClean="0"/>
          </a:p>
          <a:p>
            <a:r>
              <a:rPr lang="en-US" b="1" dirty="0" smtClean="0"/>
              <a:t>Sockets – </a:t>
            </a:r>
            <a:r>
              <a:rPr lang="en-US" dirty="0" smtClean="0"/>
              <a:t>A Unix socket (or Inter-process communication socket) is a special file which allows for advanced inter-process communication. A Unix Socket is used in a client-server application framework</a:t>
            </a:r>
          </a:p>
          <a:p>
            <a:endParaRPr lang="en-US" dirty="0" smtClean="0"/>
          </a:p>
          <a:p>
            <a:r>
              <a:rPr lang="en-US" b="1" dirty="0" smtClean="0"/>
              <a:t>Symbolic Link – </a:t>
            </a:r>
            <a:r>
              <a:rPr lang="en-US" dirty="0" smtClean="0"/>
              <a:t>Symbolic link is used for referencing some other file of the file system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1533" y="1371600"/>
            <a:ext cx="508073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533400" y="304800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pictorial representation of the UNIX system: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609600"/>
            <a:ext cx="8382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UNIX system is functionally organized at three levels:</a:t>
            </a:r>
          </a:p>
          <a:p>
            <a:endParaRPr lang="en-US" b="1" dirty="0" smtClean="0"/>
          </a:p>
          <a:p>
            <a:r>
              <a:rPr lang="en-US" b="1" dirty="0" smtClean="0"/>
              <a:t>The kernel</a:t>
            </a:r>
            <a:r>
              <a:rPr lang="en-US" dirty="0" smtClean="0"/>
              <a:t>, The kernel is the heart of the operating system. It interacts with the hardware and most of the tasks like memory management, task scheduling and file management. </a:t>
            </a:r>
          </a:p>
          <a:p>
            <a:endParaRPr lang="en-US" b="1" dirty="0" smtClean="0"/>
          </a:p>
          <a:p>
            <a:r>
              <a:rPr lang="en-US" b="1" dirty="0" smtClean="0"/>
              <a:t>The shell </a:t>
            </a:r>
            <a:r>
              <a:rPr lang="en-US" dirty="0" smtClean="0"/>
              <a:t>The shell is the utility that processes your requests. When you type in a command at your terminal, the shell interprets the command and calls the program that you want.</a:t>
            </a:r>
          </a:p>
          <a:p>
            <a:endParaRPr lang="en-US" dirty="0" smtClean="0"/>
          </a:p>
          <a:p>
            <a:r>
              <a:rPr lang="en-US" b="1" dirty="0" smtClean="0"/>
              <a:t>The tools a</a:t>
            </a:r>
            <a:r>
              <a:rPr lang="en-US" dirty="0" smtClean="0"/>
              <a:t>nd applications that offer additional functionality to the operating system</a:t>
            </a:r>
          </a:p>
          <a:p>
            <a:endParaRPr lang="en-US" dirty="0" smtClean="0"/>
          </a:p>
          <a:p>
            <a:r>
              <a:rPr lang="en-US" b="1" dirty="0" smtClean="0"/>
              <a:t>Files and Directories: All the data of Unix is organized into files. All files are then </a:t>
            </a:r>
            <a:r>
              <a:rPr lang="en-US" dirty="0" smtClean="0"/>
              <a:t>organized into directories. These directories are further organized into a tree-like structure called the </a:t>
            </a:r>
            <a:r>
              <a:rPr lang="en-US" b="1" dirty="0" err="1" smtClean="0"/>
              <a:t>filesystem</a:t>
            </a:r>
            <a:r>
              <a:rPr lang="en-US" b="1" dirty="0" smtClean="0"/>
              <a:t>.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The kernel interacts with the machine hardware, and the shell interacts with the User.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640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Logging In and Out:</a:t>
            </a:r>
          </a:p>
          <a:p>
            <a:pPr lvl="1"/>
            <a:r>
              <a:rPr lang="en-US" dirty="0" smtClean="0"/>
              <a:t>Logon name and password are required.</a:t>
            </a:r>
          </a:p>
          <a:p>
            <a:pPr lvl="1"/>
            <a:r>
              <a:rPr lang="en-US" dirty="0" smtClean="0"/>
              <a:t>Successful logon places user in home directory.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8534399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43400"/>
            <a:ext cx="3705225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33528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cal command</a:t>
            </a:r>
          </a:p>
          <a:p>
            <a:r>
              <a:rPr lang="en-US" b="1" dirty="0" smtClean="0"/>
              <a:t>Display the calendar for this month, with today highlighted.</a:t>
            </a:r>
          </a:p>
          <a:p>
            <a:endParaRPr lang="en-US" b="1" dirty="0" smtClean="0"/>
          </a:p>
          <a:p>
            <a:r>
              <a:rPr lang="en-US" b="1" dirty="0" smtClean="0"/>
              <a:t>cal</a:t>
            </a:r>
            <a:endParaRPr lang="en-US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533400"/>
            <a:ext cx="5654112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show only a single month (default) 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sz="2400" b="1" dirty="0" smtClean="0"/>
              <a:t>cal -1 </a:t>
            </a:r>
          </a:p>
          <a:p>
            <a:endParaRPr lang="en-US" dirty="0" smtClean="0"/>
          </a:p>
          <a:p>
            <a:r>
              <a:rPr lang="en-US" dirty="0" smtClean="0"/>
              <a:t>show three months spanning the date) </a:t>
            </a:r>
          </a:p>
          <a:p>
            <a:endParaRPr lang="en-US" b="1" dirty="0" smtClean="0"/>
          </a:p>
          <a:p>
            <a:r>
              <a:rPr lang="en-US" sz="2000" b="1" dirty="0" smtClean="0"/>
              <a:t>cal -3   </a:t>
            </a:r>
          </a:p>
          <a:p>
            <a:endParaRPr lang="en-US" sz="2000" b="1" dirty="0" smtClean="0"/>
          </a:p>
          <a:p>
            <a:r>
              <a:rPr lang="en-US" sz="2000" dirty="0" smtClean="0"/>
              <a:t>show num months starting with date's month </a:t>
            </a:r>
          </a:p>
          <a:p>
            <a:endParaRPr lang="en-US" sz="2000" b="1" dirty="0" smtClean="0"/>
          </a:p>
          <a:p>
            <a:r>
              <a:rPr lang="en-US" sz="2400" b="1" dirty="0" smtClean="0"/>
              <a:t>cal –n 5</a:t>
            </a:r>
          </a:p>
          <a:p>
            <a:endParaRPr lang="en-US" sz="2400" b="1" dirty="0" smtClean="0"/>
          </a:p>
          <a:p>
            <a:r>
              <a:rPr lang="en-US" sz="2000" dirty="0" smtClean="0"/>
              <a:t>Sunday as first day of week</a:t>
            </a:r>
          </a:p>
          <a:p>
            <a:endParaRPr lang="en-US" sz="2000" b="1" dirty="0" smtClean="0"/>
          </a:p>
          <a:p>
            <a:r>
              <a:rPr lang="en-US" sz="2400" b="1" dirty="0" smtClean="0"/>
              <a:t>cal –s</a:t>
            </a:r>
          </a:p>
          <a:p>
            <a:endParaRPr lang="en-US" sz="2400" b="1" dirty="0" smtClean="0"/>
          </a:p>
          <a:p>
            <a:r>
              <a:rPr lang="en-US" sz="2000" dirty="0" smtClean="0"/>
              <a:t>Monday as first day of week</a:t>
            </a:r>
            <a:r>
              <a:rPr lang="en-US" sz="2400" dirty="0" smtClean="0"/>
              <a:t> -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cal -m</a:t>
            </a:r>
            <a:endParaRPr lang="en-US" sz="24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4097597" cy="6247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To output Julian date</a:t>
            </a:r>
          </a:p>
          <a:p>
            <a:r>
              <a:rPr lang="en-US" sz="2400" b="1" dirty="0" smtClean="0"/>
              <a:t>cal –j</a:t>
            </a:r>
          </a:p>
          <a:p>
            <a:endParaRPr lang="en-US" sz="2000" b="1" dirty="0" smtClean="0"/>
          </a:p>
          <a:p>
            <a:r>
              <a:rPr lang="en-US" sz="2000" dirty="0" smtClean="0"/>
              <a:t>show the whole year </a:t>
            </a:r>
          </a:p>
          <a:p>
            <a:endParaRPr lang="en-US" sz="2000" b="1" dirty="0" smtClean="0"/>
          </a:p>
          <a:p>
            <a:r>
              <a:rPr lang="en-US" sz="2400" b="1" dirty="0" smtClean="0"/>
              <a:t>cal –y</a:t>
            </a:r>
          </a:p>
          <a:p>
            <a:endParaRPr lang="en-US" sz="2400" b="1" dirty="0" smtClean="0"/>
          </a:p>
          <a:p>
            <a:r>
              <a:rPr lang="en-US" sz="2000" dirty="0" smtClean="0"/>
              <a:t>show the next twelve months 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cal –Y</a:t>
            </a:r>
          </a:p>
          <a:p>
            <a:endParaRPr lang="en-US" sz="2000" b="1" dirty="0" smtClean="0"/>
          </a:p>
          <a:p>
            <a:r>
              <a:rPr lang="en-US" sz="2000" dirty="0" smtClean="0"/>
              <a:t>2000 year </a:t>
            </a:r>
            <a:r>
              <a:rPr lang="en-US" sz="2000" dirty="0" err="1" smtClean="0"/>
              <a:t>calender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cal 2000</a:t>
            </a:r>
          </a:p>
          <a:p>
            <a:endParaRPr lang="en-US" sz="2000" dirty="0" smtClean="0"/>
          </a:p>
          <a:p>
            <a:r>
              <a:rPr lang="en-US" dirty="0" smtClean="0"/>
              <a:t>show US or ISO-8601 week numbers</a:t>
            </a:r>
          </a:p>
          <a:p>
            <a:endParaRPr lang="en-US" dirty="0" smtClean="0"/>
          </a:p>
          <a:p>
            <a:r>
              <a:rPr lang="en-US" sz="2000" b="1" dirty="0" smtClean="0"/>
              <a:t>cal  -w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67056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Display this entire year's calendar.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cal year</a:t>
            </a:r>
          </a:p>
          <a:p>
            <a:endParaRPr lang="en-US" sz="2400" b="1" dirty="0" smtClean="0"/>
          </a:p>
          <a:p>
            <a:r>
              <a:rPr lang="en-US" dirty="0" smtClean="0"/>
              <a:t>Display 2000  entire year's calendar.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cal -y 2000</a:t>
            </a:r>
          </a:p>
          <a:p>
            <a:endParaRPr lang="en-US" sz="2400" b="1" dirty="0" smtClean="0"/>
          </a:p>
          <a:p>
            <a:r>
              <a:rPr lang="en-US" b="1" dirty="0" smtClean="0"/>
              <a:t>Displays this December calendar of this month</a:t>
            </a:r>
          </a:p>
          <a:p>
            <a:endParaRPr lang="en-US" sz="2400" dirty="0" smtClean="0"/>
          </a:p>
          <a:p>
            <a:r>
              <a:rPr lang="en-US" sz="2400" dirty="0" smtClean="0"/>
              <a:t>cal -m December</a:t>
            </a:r>
          </a:p>
          <a:p>
            <a:endParaRPr lang="en-US" sz="2400" b="1" dirty="0" smtClean="0"/>
          </a:p>
          <a:p>
            <a:endParaRPr lang="en-US" sz="2400" dirty="0" smtClean="0"/>
          </a:p>
          <a:p>
            <a:r>
              <a:rPr lang="en-US" sz="2400" dirty="0" smtClean="0"/>
              <a:t>Display the calendar for December, 2000.</a:t>
            </a:r>
          </a:p>
          <a:p>
            <a:r>
              <a:rPr lang="en-US" sz="2400" dirty="0" smtClean="0"/>
              <a:t>cal 12 2000</a:t>
            </a:r>
            <a:endParaRPr lang="en-US" sz="2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3058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date Command </a:t>
            </a:r>
            <a:r>
              <a:rPr lang="en-US" dirty="0" smtClean="0"/>
              <a:t>: displays </a:t>
            </a:r>
            <a:r>
              <a:rPr lang="en-US" b="1" dirty="0" smtClean="0"/>
              <a:t>date</a:t>
            </a:r>
            <a:r>
              <a:rPr lang="en-US" dirty="0" smtClean="0"/>
              <a:t> and time</a:t>
            </a:r>
          </a:p>
          <a:p>
            <a:endParaRPr lang="en-US" dirty="0" smtClean="0"/>
          </a:p>
          <a:p>
            <a:r>
              <a:rPr lang="en-US" sz="2000" b="1" dirty="0" smtClean="0"/>
              <a:t>$ date</a:t>
            </a:r>
          </a:p>
          <a:p>
            <a:endParaRPr lang="en-US" sz="2000" b="1" dirty="0" smtClean="0"/>
          </a:p>
          <a:p>
            <a:r>
              <a:rPr lang="en-US" sz="2000" dirty="0" smtClean="0"/>
              <a:t>%a   abbreviated weekday name (e.g., Sun)</a:t>
            </a:r>
          </a:p>
          <a:p>
            <a:endParaRPr lang="en-US" sz="2000" dirty="0" smtClean="0"/>
          </a:p>
          <a:p>
            <a:r>
              <a:rPr lang="en-US" sz="2000" b="1" dirty="0" smtClean="0"/>
              <a:t>$date +%a</a:t>
            </a:r>
          </a:p>
          <a:p>
            <a:endParaRPr lang="en-US" sz="2000" b="1" dirty="0" smtClean="0"/>
          </a:p>
          <a:p>
            <a:r>
              <a:rPr lang="en-US" sz="2000" dirty="0" smtClean="0"/>
              <a:t>%A    full weekday name (e.g., Sunday) </a:t>
            </a:r>
          </a:p>
          <a:p>
            <a:endParaRPr lang="en-US" sz="2000" dirty="0" smtClean="0"/>
          </a:p>
          <a:p>
            <a:r>
              <a:rPr lang="en-US" sz="2000" b="1" dirty="0" smtClean="0"/>
              <a:t>$date +%A</a:t>
            </a:r>
          </a:p>
          <a:p>
            <a:endParaRPr lang="en-US" sz="2000" b="1" dirty="0" smtClean="0"/>
          </a:p>
          <a:p>
            <a:r>
              <a:rPr lang="en-US" sz="2000" dirty="0" smtClean="0"/>
              <a:t>%b    abbreviated month name (e.g., Jan)</a:t>
            </a:r>
          </a:p>
          <a:p>
            <a:endParaRPr lang="en-US" sz="2000" dirty="0" smtClean="0"/>
          </a:p>
          <a:p>
            <a:r>
              <a:rPr lang="en-US" sz="2000" b="1" dirty="0" smtClean="0"/>
              <a:t>$date +%b</a:t>
            </a:r>
          </a:p>
          <a:p>
            <a:endParaRPr lang="en-US" sz="2000" b="1" dirty="0" smtClean="0"/>
          </a:p>
          <a:p>
            <a:r>
              <a:rPr lang="en-US" sz="2000" dirty="0" smtClean="0"/>
              <a:t>%B    full month name (e.g., January)</a:t>
            </a:r>
            <a:r>
              <a:rPr lang="en-US" sz="2000" b="1" dirty="0" smtClean="0"/>
              <a:t> 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$date +b</a:t>
            </a:r>
          </a:p>
          <a:p>
            <a:endParaRPr lang="en-US" sz="2000" b="1" dirty="0" smtClean="0"/>
          </a:p>
          <a:p>
            <a:r>
              <a:rPr lang="en-US" sz="2000" dirty="0" smtClean="0"/>
              <a:t>%c   locale's date and time (e.g., Thu Mar  3 23:05:25 2005)</a:t>
            </a:r>
          </a:p>
          <a:p>
            <a:r>
              <a:rPr lang="en-US" sz="2000" b="1" dirty="0" smtClean="0"/>
              <a:t>$date +%c</a:t>
            </a:r>
          </a:p>
          <a:p>
            <a:endParaRPr lang="en-US" sz="2000" b="1" dirty="0" smtClean="0"/>
          </a:p>
          <a:p>
            <a:endParaRPr lang="en-US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1"/>
            <a:ext cx="85344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%d   day of month (e.g., 01)    </a:t>
            </a:r>
          </a:p>
          <a:p>
            <a:endParaRPr lang="en-US" dirty="0" smtClean="0"/>
          </a:p>
          <a:p>
            <a:r>
              <a:rPr lang="en-US" b="1" dirty="0" smtClean="0"/>
              <a:t>$date +%d</a:t>
            </a:r>
            <a:r>
              <a:rPr lang="en-US" dirty="0" smtClean="0"/>
              <a:t>                                                                                                                     </a:t>
            </a:r>
          </a:p>
          <a:p>
            <a:r>
              <a:rPr lang="en-US" dirty="0" smtClean="0"/>
              <a:t>%D   date; same as %m/%d/%y</a:t>
            </a:r>
          </a:p>
          <a:p>
            <a:endParaRPr lang="en-US" dirty="0" smtClean="0"/>
          </a:p>
          <a:p>
            <a:r>
              <a:rPr lang="en-US" b="1" dirty="0" smtClean="0"/>
              <a:t>$date +%D</a:t>
            </a:r>
            <a:r>
              <a:rPr lang="en-US" dirty="0" smtClean="0"/>
              <a:t>      </a:t>
            </a:r>
          </a:p>
          <a:p>
            <a:r>
              <a:rPr lang="en-US" dirty="0" smtClean="0"/>
              <a:t>                                                                                                                    </a:t>
            </a:r>
          </a:p>
          <a:p>
            <a:r>
              <a:rPr lang="en-US" dirty="0" smtClean="0"/>
              <a:t>%e   day of month, space padded; same as %_d   </a:t>
            </a:r>
          </a:p>
          <a:p>
            <a:endParaRPr lang="en-US" dirty="0" smtClean="0"/>
          </a:p>
          <a:p>
            <a:r>
              <a:rPr lang="en-US" b="1" dirty="0" smtClean="0"/>
              <a:t>$date +%e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                                                                                               </a:t>
            </a:r>
          </a:p>
          <a:p>
            <a:r>
              <a:rPr lang="en-US" dirty="0" smtClean="0"/>
              <a:t>%F   full date; same as %Y-%m-%d</a:t>
            </a:r>
          </a:p>
          <a:p>
            <a:endParaRPr lang="en-US" dirty="0" smtClean="0"/>
          </a:p>
          <a:p>
            <a:r>
              <a:rPr lang="en-US" b="1" dirty="0" smtClean="0"/>
              <a:t>$date +%F</a:t>
            </a:r>
          </a:p>
          <a:p>
            <a:r>
              <a:rPr lang="en-US" dirty="0" smtClean="0"/>
              <a:t>                                                                                                                     </a:t>
            </a:r>
          </a:p>
          <a:p>
            <a:r>
              <a:rPr lang="en-US" dirty="0" smtClean="0"/>
              <a:t>%g   last two digits of year of ISO week number (see %G)                                                                                             </a:t>
            </a:r>
          </a:p>
          <a:p>
            <a:endParaRPr lang="en-US" dirty="0" smtClean="0"/>
          </a:p>
          <a:p>
            <a:r>
              <a:rPr lang="en-US" dirty="0" smtClean="0"/>
              <a:t>$date +%g</a:t>
            </a:r>
          </a:p>
          <a:p>
            <a:endParaRPr lang="en-US" dirty="0" smtClean="0"/>
          </a:p>
          <a:p>
            <a:r>
              <a:rPr lang="en-US" dirty="0" smtClean="0"/>
              <a:t> %H   hour (00..23)                                                                                                                                   </a:t>
            </a:r>
          </a:p>
          <a:p>
            <a:r>
              <a:rPr lang="en-US" dirty="0" smtClean="0"/>
              <a:t> </a:t>
            </a:r>
          </a:p>
          <a:p>
            <a:r>
              <a:rPr lang="en-US" b="1" dirty="0" smtClean="0"/>
              <a:t>$date +%H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1"/>
            <a:ext cx="66294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%m   month (01..12)  </a:t>
            </a:r>
          </a:p>
          <a:p>
            <a:endParaRPr lang="en-US" dirty="0" smtClean="0"/>
          </a:p>
          <a:p>
            <a:r>
              <a:rPr lang="en-US" b="1" dirty="0" smtClean="0"/>
              <a:t>$date +%m</a:t>
            </a:r>
          </a:p>
          <a:p>
            <a:r>
              <a:rPr lang="en-US" dirty="0" smtClean="0"/>
              <a:t>                                                                                                                                </a:t>
            </a:r>
          </a:p>
          <a:p>
            <a:r>
              <a:rPr lang="en-US" dirty="0" smtClean="0"/>
              <a:t>%M   minute (00..59)</a:t>
            </a:r>
          </a:p>
          <a:p>
            <a:endParaRPr lang="en-US" dirty="0" smtClean="0"/>
          </a:p>
          <a:p>
            <a:r>
              <a:rPr lang="en-US" b="1" dirty="0" smtClean="0"/>
              <a:t>$date +%M</a:t>
            </a:r>
          </a:p>
          <a:p>
            <a:endParaRPr lang="en-US" b="1" dirty="0" smtClean="0"/>
          </a:p>
          <a:p>
            <a:r>
              <a:rPr lang="en-US" dirty="0" smtClean="0"/>
              <a:t>%p   locale's equivalent of either AM or PM;</a:t>
            </a:r>
          </a:p>
          <a:p>
            <a:endParaRPr lang="en-US" dirty="0" smtClean="0"/>
          </a:p>
          <a:p>
            <a:r>
              <a:rPr lang="en-US" b="1" dirty="0" smtClean="0"/>
              <a:t>$date +%p</a:t>
            </a:r>
          </a:p>
          <a:p>
            <a:endParaRPr lang="en-US" b="1" dirty="0" smtClean="0"/>
          </a:p>
          <a:p>
            <a:r>
              <a:rPr lang="en-US" dirty="0" smtClean="0"/>
              <a:t>%r    12-hour clock time (e.g., 11:11:04 PM)</a:t>
            </a:r>
          </a:p>
          <a:p>
            <a:endParaRPr lang="en-US" dirty="0" smtClean="0"/>
          </a:p>
          <a:p>
            <a:r>
              <a:rPr lang="en-US" b="1" dirty="0" smtClean="0"/>
              <a:t>$date +%r</a:t>
            </a:r>
          </a:p>
          <a:p>
            <a:endParaRPr lang="en-US" b="1" dirty="0" smtClean="0"/>
          </a:p>
          <a:p>
            <a:r>
              <a:rPr lang="en-US" dirty="0" smtClean="0"/>
              <a:t>%R   24-hour hour and minute; same as %H:%M </a:t>
            </a:r>
          </a:p>
          <a:p>
            <a:endParaRPr lang="en-US" dirty="0" smtClean="0"/>
          </a:p>
          <a:p>
            <a:r>
              <a:rPr lang="en-US" dirty="0" smtClean="0"/>
              <a:t>$date +%R</a:t>
            </a:r>
          </a:p>
          <a:p>
            <a:endParaRPr lang="en-US" dirty="0" smtClean="0"/>
          </a:p>
          <a:p>
            <a:r>
              <a:rPr lang="en-US" dirty="0" smtClean="0"/>
              <a:t> %S   second (00..60)</a:t>
            </a:r>
          </a:p>
          <a:p>
            <a:endParaRPr lang="en-US" dirty="0" smtClean="0"/>
          </a:p>
          <a:p>
            <a:r>
              <a:rPr lang="en-US" dirty="0" smtClean="0"/>
              <a:t>$date +%S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395235" y="3244334"/>
            <a:ext cx="235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%S   second (00..60)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6868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cat command </a:t>
            </a:r>
            <a:r>
              <a:rPr lang="en-US" dirty="0" smtClean="0"/>
              <a:t>allows us to create single or multiple files, view contain of file, concatenate files and redirect output in terminal or files.</a:t>
            </a:r>
          </a:p>
          <a:p>
            <a:endParaRPr lang="en-US" dirty="0" smtClean="0"/>
          </a:p>
          <a:p>
            <a:r>
              <a:rPr lang="en-US" b="1" dirty="0" smtClean="0"/>
              <a:t>Create a file</a:t>
            </a:r>
          </a:p>
          <a:p>
            <a:endParaRPr lang="en-US" b="1" dirty="0" smtClean="0"/>
          </a:p>
          <a:p>
            <a:r>
              <a:rPr lang="en-US" i="1" dirty="0" smtClean="0"/>
              <a:t>$ cat &gt; file1.txt</a:t>
            </a:r>
          </a:p>
          <a:p>
            <a:r>
              <a:rPr lang="en-US" i="1" dirty="0" smtClean="0"/>
              <a:t>This is my new file in Linux.</a:t>
            </a:r>
          </a:p>
          <a:p>
            <a:r>
              <a:rPr lang="en-US" i="1" dirty="0" smtClean="0"/>
              <a:t>The cat command is very useful.</a:t>
            </a:r>
          </a:p>
          <a:p>
            <a:r>
              <a:rPr lang="en-US" i="1" dirty="0" smtClean="0"/>
              <a:t>Thanks</a:t>
            </a:r>
          </a:p>
          <a:p>
            <a:r>
              <a:rPr lang="en-US" dirty="0" err="1" smtClean="0"/>
              <a:t>ctl</a:t>
            </a:r>
            <a:r>
              <a:rPr lang="en-US" dirty="0" smtClean="0"/>
              <a:t> +d </a:t>
            </a:r>
          </a:p>
          <a:p>
            <a:endParaRPr lang="en-US" dirty="0" smtClean="0"/>
          </a:p>
          <a:p>
            <a:r>
              <a:rPr lang="en-US" b="1" dirty="0" smtClean="0"/>
              <a:t>display the contents of the file file1.txt</a:t>
            </a:r>
          </a:p>
          <a:p>
            <a:endParaRPr lang="en-US" b="1" dirty="0" smtClean="0"/>
          </a:p>
          <a:p>
            <a:r>
              <a:rPr lang="en-US" b="1" dirty="0" smtClean="0"/>
              <a:t>$cat file1.txt</a:t>
            </a:r>
          </a:p>
          <a:p>
            <a:endParaRPr lang="en-US" b="1" dirty="0" smtClean="0"/>
          </a:p>
          <a:p>
            <a:r>
              <a:rPr lang="en-US" i="1" dirty="0" smtClean="0"/>
              <a:t>$ cat smaple1.txt</a:t>
            </a:r>
          </a:p>
          <a:p>
            <a:r>
              <a:rPr lang="en-US" i="1" dirty="0" smtClean="0"/>
              <a:t>This is my first sample text file</a:t>
            </a:r>
          </a:p>
          <a:p>
            <a:r>
              <a:rPr lang="en-US" i="1" dirty="0" smtClean="0"/>
              <a:t>$ cat sample2.txt</a:t>
            </a:r>
          </a:p>
          <a:p>
            <a:r>
              <a:rPr lang="en-US" i="1" dirty="0" smtClean="0"/>
              <a:t>This is my second sample text file</a:t>
            </a:r>
          </a:p>
          <a:p>
            <a:endParaRPr lang="en-US" b="1" dirty="0" smtClean="0"/>
          </a:p>
          <a:p>
            <a:r>
              <a:rPr lang="en-US" b="1" dirty="0" smtClean="0"/>
              <a:t>concatenate these two files</a:t>
            </a:r>
          </a:p>
          <a:p>
            <a:endParaRPr lang="en-US" b="1" dirty="0" smtClean="0"/>
          </a:p>
          <a:p>
            <a:r>
              <a:rPr lang="en-US" i="1" dirty="0" smtClean="0"/>
              <a:t>$ cat sample1.txt sample2.txt &gt; sample3.txt</a:t>
            </a:r>
            <a:endParaRPr 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28600"/>
            <a:ext cx="8839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Display the content of Multiple files</a:t>
            </a:r>
          </a:p>
          <a:p>
            <a:endParaRPr lang="en-US" b="1" dirty="0" smtClean="0"/>
          </a:p>
          <a:p>
            <a:r>
              <a:rPr lang="en-US" b="1" dirty="0" smtClean="0"/>
              <a:t>$cat sample1.txt sample2.txt</a:t>
            </a:r>
          </a:p>
          <a:p>
            <a:endParaRPr lang="en-US" b="1" dirty="0" smtClean="0"/>
          </a:p>
          <a:p>
            <a:r>
              <a:rPr lang="en-US" b="1" dirty="0" smtClean="0"/>
              <a:t>$cat *.txt</a:t>
            </a:r>
          </a:p>
          <a:p>
            <a:endParaRPr lang="en-US" b="1" dirty="0" smtClean="0"/>
          </a:p>
          <a:p>
            <a:r>
              <a:rPr lang="en-US" dirty="0" smtClean="0"/>
              <a:t>To display the contents of a file with line number,</a:t>
            </a:r>
          </a:p>
          <a:p>
            <a:endParaRPr lang="en-US" dirty="0" smtClean="0"/>
          </a:p>
          <a:p>
            <a:r>
              <a:rPr lang="en-US" b="1" dirty="0" smtClean="0"/>
              <a:t>$ cat -n file1.txt</a:t>
            </a:r>
          </a:p>
          <a:p>
            <a:endParaRPr lang="en-US" b="1" dirty="0" smtClean="0"/>
          </a:p>
          <a:p>
            <a:r>
              <a:rPr lang="en-US" dirty="0" smtClean="0"/>
              <a:t>To append the contents of one file to another</a:t>
            </a:r>
          </a:p>
          <a:p>
            <a:endParaRPr lang="en-US" b="1" i="1" dirty="0" smtClean="0"/>
          </a:p>
          <a:p>
            <a:r>
              <a:rPr lang="en-US" b="1" i="1" dirty="0" smtClean="0"/>
              <a:t>$ cat sample1.txt &gt;&gt; sample2.txt</a:t>
            </a:r>
          </a:p>
          <a:p>
            <a:endParaRPr lang="en-US" b="1" i="1" dirty="0" smtClean="0"/>
          </a:p>
          <a:p>
            <a:r>
              <a:rPr lang="en-US" b="1" i="1" dirty="0" smtClean="0"/>
              <a:t>touch command </a:t>
            </a:r>
            <a:r>
              <a:rPr lang="en-US" i="1" dirty="0" smtClean="0"/>
              <a:t>is used to create, change and modify timestamps of a file</a:t>
            </a:r>
          </a:p>
          <a:p>
            <a:endParaRPr lang="en-US" i="1" dirty="0" smtClean="0"/>
          </a:p>
          <a:p>
            <a:r>
              <a:rPr lang="en-US" b="1" i="1" dirty="0" smtClean="0"/>
              <a:t>$ touch  dummy</a:t>
            </a:r>
          </a:p>
          <a:p>
            <a:endParaRPr lang="en-US" b="1" i="1" dirty="0" smtClean="0"/>
          </a:p>
          <a:p>
            <a:r>
              <a:rPr lang="en-US" dirty="0" smtClean="0"/>
              <a:t>Creating Multiple Files</a:t>
            </a:r>
          </a:p>
          <a:p>
            <a:endParaRPr lang="en-US" b="1" dirty="0" smtClean="0"/>
          </a:p>
          <a:p>
            <a:r>
              <a:rPr lang="en-US" b="1" dirty="0" smtClean="0"/>
              <a:t>$touch dummy1 dummy2 dummy3</a:t>
            </a:r>
          </a:p>
          <a:p>
            <a:endParaRPr lang="en-US" b="1" i="1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28600"/>
            <a:ext cx="8458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pwd</a:t>
            </a:r>
            <a:r>
              <a:rPr lang="en-US" dirty="0" smtClean="0"/>
              <a:t>: command outputs the name of the </a:t>
            </a:r>
            <a:r>
              <a:rPr lang="en-US" dirty="0" smtClean="0">
                <a:hlinkClick r:id="rId2"/>
              </a:rPr>
              <a:t>working directory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pwd</a:t>
            </a:r>
            <a:endParaRPr lang="en-US" b="1" dirty="0" smtClean="0"/>
          </a:p>
          <a:p>
            <a:endParaRPr lang="en-US" dirty="0" smtClean="0"/>
          </a:p>
          <a:p>
            <a:r>
              <a:rPr lang="en-US" b="1" dirty="0" err="1" smtClean="0"/>
              <a:t>mkdir</a:t>
            </a:r>
            <a:r>
              <a:rPr lang="en-US" dirty="0" smtClean="0"/>
              <a:t> command in Linux allows the user to create directories This command can create multiple. 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mkdir</a:t>
            </a:r>
            <a:r>
              <a:rPr lang="en-US" b="1" dirty="0" smtClean="0"/>
              <a:t> demo</a:t>
            </a:r>
          </a:p>
          <a:p>
            <a:endParaRPr lang="en-US" b="1" dirty="0" smtClean="0"/>
          </a:p>
          <a:p>
            <a:r>
              <a:rPr lang="en-US" b="1" dirty="0" smtClean="0"/>
              <a:t>p</a:t>
            </a:r>
            <a:r>
              <a:rPr lang="en-US" dirty="0" smtClean="0"/>
              <a:t>: A flag which enables the command to create parent directories as necessary. If the directories exist, no error is specified.</a:t>
            </a:r>
          </a:p>
          <a:p>
            <a:endParaRPr lang="en-US" b="1" dirty="0" smtClean="0"/>
          </a:p>
          <a:p>
            <a:r>
              <a:rPr lang="en-US" b="1" dirty="0" err="1" smtClean="0"/>
              <a:t>mkdir</a:t>
            </a:r>
            <a:r>
              <a:rPr lang="en-US" b="1" dirty="0" smtClean="0"/>
              <a:t> -p first/second/third</a:t>
            </a:r>
          </a:p>
          <a:p>
            <a:endParaRPr lang="en-US" dirty="0" smtClean="0"/>
          </a:p>
          <a:p>
            <a:r>
              <a:rPr lang="en-US" dirty="0" smtClean="0"/>
              <a:t>Crating multiple </a:t>
            </a:r>
            <a:r>
              <a:rPr lang="en-US" dirty="0" err="1" smtClean="0"/>
              <a:t>directtries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mkdir</a:t>
            </a:r>
            <a:r>
              <a:rPr lang="en-US" b="1" dirty="0" smtClean="0"/>
              <a:t> demo1 demo2</a:t>
            </a:r>
          </a:p>
          <a:p>
            <a:endParaRPr lang="en-US" b="1" dirty="0" smtClean="0"/>
          </a:p>
          <a:p>
            <a:r>
              <a:rPr lang="en-US" b="1" dirty="0" smtClean="0"/>
              <a:t>-m</a:t>
            </a:r>
            <a:r>
              <a:rPr lang="en-US" dirty="0" smtClean="0"/>
              <a:t>: This option is used to set the file modes, i.e. permissions, etc. for the created directories.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mkdir</a:t>
            </a:r>
            <a:r>
              <a:rPr lang="en-US" b="1" dirty="0" smtClean="0"/>
              <a:t> –m a=</a:t>
            </a:r>
            <a:r>
              <a:rPr lang="en-US" b="1" dirty="0" err="1" smtClean="0"/>
              <a:t>rwx</a:t>
            </a:r>
            <a:r>
              <a:rPr lang="en-US" b="1" dirty="0" smtClean="0"/>
              <a:t> demo3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4582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 </a:t>
            </a:r>
            <a:r>
              <a:rPr lang="en-US" b="1" dirty="0" err="1" smtClean="0"/>
              <a:t>cd</a:t>
            </a:r>
            <a:r>
              <a:rPr lang="en-US" dirty="0" smtClean="0"/>
              <a:t> command, also known as </a:t>
            </a:r>
            <a:r>
              <a:rPr lang="en-US" dirty="0" err="1" smtClean="0"/>
              <a:t>chdir</a:t>
            </a:r>
            <a:r>
              <a:rPr lang="en-US" dirty="0" smtClean="0"/>
              <a:t> (change directory), is a command-line used to change the current working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cd</a:t>
            </a:r>
            <a:r>
              <a:rPr lang="en-US" b="1" dirty="0" smtClean="0"/>
              <a:t> demo</a:t>
            </a:r>
          </a:p>
          <a:p>
            <a:endParaRPr lang="en-US" b="1" dirty="0" smtClean="0"/>
          </a:p>
          <a:p>
            <a:r>
              <a:rPr lang="en-US" dirty="0" smtClean="0"/>
              <a:t>Move up one folder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cd</a:t>
            </a:r>
            <a:r>
              <a:rPr lang="en-US" b="1" dirty="0" smtClean="0"/>
              <a:t> ..</a:t>
            </a:r>
          </a:p>
          <a:p>
            <a:endParaRPr lang="en-US" b="1" dirty="0" smtClean="0"/>
          </a:p>
          <a:p>
            <a:r>
              <a:rPr lang="en-US" dirty="0" smtClean="0"/>
              <a:t>Change to </a:t>
            </a:r>
            <a:r>
              <a:rPr lang="en-US" dirty="0" err="1" smtClean="0"/>
              <a:t>perticulare</a:t>
            </a:r>
            <a:r>
              <a:rPr lang="en-US" dirty="0" smtClean="0"/>
              <a:t> folder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cd</a:t>
            </a:r>
            <a:r>
              <a:rPr lang="en-US" b="1" dirty="0" smtClean="0"/>
              <a:t> first/second/third</a:t>
            </a:r>
          </a:p>
          <a:p>
            <a:endParaRPr lang="en-US" b="1" dirty="0" smtClean="0"/>
          </a:p>
          <a:p>
            <a:r>
              <a:rPr lang="en-US" dirty="0" smtClean="0"/>
              <a:t>Get back to original location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cd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err="1" smtClean="0"/>
              <a:t>rmdir</a:t>
            </a:r>
            <a:r>
              <a:rPr lang="en-US" b="1" dirty="0" smtClean="0"/>
              <a:t> </a:t>
            </a:r>
            <a:r>
              <a:rPr lang="en-US" dirty="0" smtClean="0"/>
              <a:t>command is use to remove directory  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rmdir</a:t>
            </a:r>
            <a:r>
              <a:rPr lang="en-US" dirty="0" smtClean="0"/>
              <a:t> demo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1"/>
            <a:ext cx="66294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 </a:t>
            </a:r>
            <a:r>
              <a:rPr lang="en-US" b="1" dirty="0" err="1" smtClean="0"/>
              <a:t>ls</a:t>
            </a:r>
            <a:r>
              <a:rPr lang="en-US" b="1" dirty="0" smtClean="0"/>
              <a:t> command</a:t>
            </a:r>
            <a:r>
              <a:rPr lang="en-US" dirty="0" smtClean="0"/>
              <a:t> is used to get a list of files and directories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-a: list all files including hidden files.</a:t>
            </a:r>
          </a:p>
          <a:p>
            <a:endParaRPr lang="en-US" b="1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ls</a:t>
            </a:r>
            <a:r>
              <a:rPr lang="en-US" b="1" dirty="0" smtClean="0"/>
              <a:t> –a</a:t>
            </a:r>
          </a:p>
          <a:p>
            <a:endParaRPr lang="en-US" b="1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-R: list all files recursively,</a:t>
            </a:r>
          </a:p>
          <a:p>
            <a:endParaRPr lang="en-US" b="1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ls</a:t>
            </a:r>
            <a:r>
              <a:rPr lang="en-US" b="1" dirty="0" smtClean="0"/>
              <a:t> –R</a:t>
            </a:r>
          </a:p>
          <a:p>
            <a:endParaRPr lang="en-US" b="1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-l: list the files in long format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r>
              <a:rPr lang="en-US" b="1" dirty="0" smtClean="0"/>
              <a:t> –l</a:t>
            </a:r>
          </a:p>
          <a:p>
            <a:endParaRPr lang="en-US" b="1" dirty="0" smtClean="0"/>
          </a:p>
          <a:p>
            <a:pPr fontAlgn="base"/>
            <a:r>
              <a:rPr lang="en-US" dirty="0" smtClean="0"/>
              <a:t>file permissions,</a:t>
            </a:r>
          </a:p>
          <a:p>
            <a:pPr fontAlgn="base"/>
            <a:r>
              <a:rPr lang="en-US" dirty="0" smtClean="0"/>
              <a:t>number of links,</a:t>
            </a:r>
          </a:p>
          <a:p>
            <a:pPr fontAlgn="base"/>
            <a:r>
              <a:rPr lang="en-US" dirty="0" smtClean="0"/>
              <a:t>owner name,</a:t>
            </a:r>
          </a:p>
          <a:p>
            <a:pPr fontAlgn="base"/>
            <a:r>
              <a:rPr lang="en-US" dirty="0" smtClean="0"/>
              <a:t>owner group,</a:t>
            </a:r>
          </a:p>
          <a:p>
            <a:pPr fontAlgn="base"/>
            <a:r>
              <a:rPr lang="en-US" dirty="0" smtClean="0"/>
              <a:t>file size,</a:t>
            </a:r>
          </a:p>
          <a:p>
            <a:pPr fontAlgn="base"/>
            <a:r>
              <a:rPr lang="en-US" dirty="0" smtClean="0"/>
              <a:t>time of last modification, and</a:t>
            </a:r>
          </a:p>
          <a:p>
            <a:pPr fontAlgn="base"/>
            <a:r>
              <a:rPr lang="en-US" dirty="0" smtClean="0"/>
              <a:t>file/directory name</a:t>
            </a:r>
          </a:p>
          <a:p>
            <a:endParaRPr lang="en-US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85344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ls</a:t>
            </a:r>
            <a:r>
              <a:rPr lang="en-US" dirty="0" smtClean="0"/>
              <a:t> -s: list the files along with their size.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r>
              <a:rPr lang="en-US" b="1" dirty="0" smtClean="0"/>
              <a:t> –s</a:t>
            </a:r>
          </a:p>
          <a:p>
            <a:r>
              <a:rPr lang="en-US" dirty="0" err="1" smtClean="0"/>
              <a:t>ls</a:t>
            </a:r>
            <a:r>
              <a:rPr lang="en-US" dirty="0" smtClean="0"/>
              <a:t> -t: sort the list by time of modification, with the newest at the top.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r>
              <a:rPr lang="en-US" b="1" dirty="0" smtClean="0"/>
              <a:t> -t</a:t>
            </a:r>
          </a:p>
          <a:p>
            <a:r>
              <a:rPr lang="en-US" dirty="0" err="1" smtClean="0"/>
              <a:t>ls</a:t>
            </a:r>
            <a:r>
              <a:rPr lang="en-US" dirty="0" smtClean="0"/>
              <a:t> -S: sort the list by size, with the largest at the top.</a:t>
            </a:r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r>
              <a:rPr lang="en-US" b="1" dirty="0" smtClean="0"/>
              <a:t> –S</a:t>
            </a:r>
          </a:p>
          <a:p>
            <a:endParaRPr lang="en-US" b="1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-r: reverse the sorting order.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ls</a:t>
            </a:r>
            <a:r>
              <a:rPr lang="en-US" b="1" dirty="0" smtClean="0"/>
              <a:t> –r</a:t>
            </a:r>
          </a:p>
          <a:p>
            <a:endParaRPr lang="en-US" b="1" dirty="0" smtClean="0"/>
          </a:p>
          <a:p>
            <a:r>
              <a:rPr lang="en-US" dirty="0" err="1" smtClean="0"/>
              <a:t>ls</a:t>
            </a:r>
            <a:r>
              <a:rPr lang="en-US" dirty="0" smtClean="0"/>
              <a:t>  -la  long listing with hidden files </a:t>
            </a:r>
          </a:p>
          <a:p>
            <a:endParaRPr lang="en-US" b="1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ls</a:t>
            </a:r>
            <a:r>
              <a:rPr lang="en-US" b="1" dirty="0" smtClean="0"/>
              <a:t> -la</a:t>
            </a:r>
          </a:p>
          <a:p>
            <a:endParaRPr lang="en-US" dirty="0" smtClean="0"/>
          </a:p>
          <a:p>
            <a:r>
              <a:rPr lang="en-US" dirty="0" smtClean="0"/>
              <a:t>List all the files in the current directory in long format, sorted by modification time, oldest first</a:t>
            </a:r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ls</a:t>
            </a:r>
            <a:r>
              <a:rPr lang="en-US" dirty="0" smtClean="0"/>
              <a:t> –</a:t>
            </a:r>
            <a:r>
              <a:rPr lang="en-US" dirty="0" err="1" smtClean="0"/>
              <a:t>ltr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List root directory</a:t>
            </a:r>
          </a:p>
          <a:p>
            <a:r>
              <a:rPr lang="en-US" dirty="0" smtClean="0"/>
              <a:t>$</a:t>
            </a:r>
            <a:r>
              <a:rPr lang="en-US" dirty="0" err="1" smtClean="0"/>
              <a:t>ls</a:t>
            </a:r>
            <a:r>
              <a:rPr lang="en-US" dirty="0" smtClean="0"/>
              <a:t> /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8458200" cy="8125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cp</a:t>
            </a:r>
            <a:r>
              <a:rPr lang="en-US" dirty="0" smtClean="0"/>
              <a:t> stands for </a:t>
            </a:r>
            <a:r>
              <a:rPr lang="en-US" b="1" dirty="0" smtClean="0"/>
              <a:t>copy</a:t>
            </a:r>
            <a:r>
              <a:rPr lang="en-US" dirty="0" smtClean="0"/>
              <a:t>. This command is used to copy files or group of files or directory. It creates an exact image of a file on a disk with different file name.</a:t>
            </a:r>
          </a:p>
          <a:p>
            <a:endParaRPr lang="en-US" dirty="0" smtClean="0"/>
          </a:p>
          <a:p>
            <a:r>
              <a:rPr lang="en-US" b="1" dirty="0" smtClean="0"/>
              <a:t>$cp sample1.txt sample1_bak.txt</a:t>
            </a:r>
          </a:p>
          <a:p>
            <a:endParaRPr lang="en-US" dirty="0" smtClean="0"/>
          </a:p>
          <a:p>
            <a:r>
              <a:rPr lang="en-US" dirty="0" smtClean="0"/>
              <a:t>Copy the file to directory</a:t>
            </a:r>
          </a:p>
          <a:p>
            <a:endParaRPr lang="en-US" dirty="0" smtClean="0"/>
          </a:p>
          <a:p>
            <a:r>
              <a:rPr lang="en-US" b="1" dirty="0" smtClean="0"/>
              <a:t>$cp sample1.txt first</a:t>
            </a:r>
          </a:p>
          <a:p>
            <a:endParaRPr lang="en-US" b="1" dirty="0" smtClean="0"/>
          </a:p>
          <a:p>
            <a:r>
              <a:rPr lang="en-US" dirty="0" smtClean="0"/>
              <a:t>Copy the file to directory to different name</a:t>
            </a:r>
          </a:p>
          <a:p>
            <a:endParaRPr lang="en-US" dirty="0" smtClean="0"/>
          </a:p>
          <a:p>
            <a:r>
              <a:rPr lang="en-US" b="1" dirty="0" smtClean="0"/>
              <a:t>$cp sample1.txt first/sample1_bak.txt</a:t>
            </a:r>
          </a:p>
          <a:p>
            <a:endParaRPr lang="en-US" b="1" dirty="0" smtClean="0"/>
          </a:p>
          <a:p>
            <a:r>
              <a:rPr lang="en-US" dirty="0" smtClean="0"/>
              <a:t>Copy the file multiple file to directory</a:t>
            </a:r>
          </a:p>
          <a:p>
            <a:endParaRPr lang="en-US" dirty="0" smtClean="0"/>
          </a:p>
          <a:p>
            <a:r>
              <a:rPr lang="en-US" b="1" dirty="0" smtClean="0"/>
              <a:t>$cp *.txt first</a:t>
            </a:r>
          </a:p>
          <a:p>
            <a:endParaRPr lang="en-US" b="1" dirty="0" smtClean="0"/>
          </a:p>
          <a:p>
            <a:r>
              <a:rPr lang="en-US" dirty="0" smtClean="0"/>
              <a:t>Copy the file with regular expression</a:t>
            </a:r>
          </a:p>
          <a:p>
            <a:endParaRPr lang="en-US" dirty="0" smtClean="0"/>
          </a:p>
          <a:p>
            <a:r>
              <a:rPr lang="en-US" b="1" dirty="0" smtClean="0"/>
              <a:t>$cp file[1-3] demo</a:t>
            </a:r>
          </a:p>
          <a:p>
            <a:endParaRPr lang="en-US" b="1" dirty="0" smtClean="0"/>
          </a:p>
          <a:p>
            <a:r>
              <a:rPr lang="en-US" dirty="0" smtClean="0"/>
              <a:t>Copy file with interactive mode</a:t>
            </a:r>
          </a:p>
          <a:p>
            <a:endParaRPr lang="en-US" dirty="0" smtClean="0"/>
          </a:p>
          <a:p>
            <a:r>
              <a:rPr lang="en-US" b="1" dirty="0" smtClean="0"/>
              <a:t>$cp file1 demo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458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err="1" smtClean="0"/>
              <a:t>mv</a:t>
            </a:r>
            <a:r>
              <a:rPr lang="en-US" b="1" dirty="0" smtClean="0"/>
              <a:t> command</a:t>
            </a:r>
            <a:r>
              <a:rPr lang="en-US" dirty="0" smtClean="0"/>
              <a:t> is to moves files or </a:t>
            </a:r>
            <a:r>
              <a:rPr lang="en-US" dirty="0" err="1" smtClean="0"/>
              <a:t>dimrectories</a:t>
            </a:r>
            <a:r>
              <a:rPr lang="en-US" dirty="0" smtClean="0"/>
              <a:t> from one place to another . It supports moving single files, multiple files and directories.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mv</a:t>
            </a:r>
            <a:r>
              <a:rPr lang="en-US" b="1" dirty="0" smtClean="0"/>
              <a:t> file1 demo</a:t>
            </a:r>
          </a:p>
          <a:p>
            <a:endParaRPr lang="en-US" dirty="0" smtClean="0"/>
          </a:p>
          <a:p>
            <a:r>
              <a:rPr lang="en-US" dirty="0" smtClean="0"/>
              <a:t>Renaming the file with </a:t>
            </a:r>
            <a:r>
              <a:rPr lang="en-US" dirty="0" err="1" smtClean="0"/>
              <a:t>mv</a:t>
            </a:r>
            <a:r>
              <a:rPr lang="en-US" dirty="0" smtClean="0"/>
              <a:t> command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mv</a:t>
            </a:r>
            <a:r>
              <a:rPr lang="en-US" b="1" dirty="0" smtClean="0"/>
              <a:t> file2 file2bak</a:t>
            </a:r>
          </a:p>
          <a:p>
            <a:endParaRPr lang="en-US" b="1" dirty="0" smtClean="0"/>
          </a:p>
          <a:p>
            <a:r>
              <a:rPr lang="en-US" dirty="0" smtClean="0"/>
              <a:t>Renaming directory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mv</a:t>
            </a:r>
            <a:r>
              <a:rPr lang="en-US" b="1" dirty="0" smtClean="0"/>
              <a:t> demo </a:t>
            </a:r>
            <a:r>
              <a:rPr lang="en-US" b="1" dirty="0" err="1" smtClean="0"/>
              <a:t>demo_bak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Moving directory to other directory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mv</a:t>
            </a:r>
            <a:r>
              <a:rPr lang="en-US" b="1" dirty="0" smtClean="0"/>
              <a:t> </a:t>
            </a:r>
            <a:r>
              <a:rPr lang="en-US" b="1" dirty="0" err="1" smtClean="0"/>
              <a:t>demo_bak</a:t>
            </a:r>
            <a:r>
              <a:rPr lang="en-US" b="1" dirty="0" smtClean="0"/>
              <a:t> demo1</a:t>
            </a:r>
          </a:p>
          <a:p>
            <a:endParaRPr lang="en-US" b="1" dirty="0" smtClean="0"/>
          </a:p>
          <a:p>
            <a:r>
              <a:rPr lang="en-US" dirty="0" smtClean="0"/>
              <a:t>Moving file in interactive mode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mv</a:t>
            </a:r>
            <a:r>
              <a:rPr lang="en-US" b="1" dirty="0" smtClean="0"/>
              <a:t>  -</a:t>
            </a:r>
            <a:r>
              <a:rPr lang="en-US" b="1" dirty="0" err="1" smtClean="0"/>
              <a:t>i</a:t>
            </a:r>
            <a:r>
              <a:rPr lang="en-US" b="1" dirty="0" smtClean="0"/>
              <a:t> file1 demo2</a:t>
            </a: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1"/>
            <a:ext cx="83820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/>
              <a:t>rm</a:t>
            </a:r>
            <a:r>
              <a:rPr lang="en-US" dirty="0" smtClean="0"/>
              <a:t> command is used to remove objects such as files, directories, symbolic link</a:t>
            </a:r>
          </a:p>
          <a:p>
            <a:endParaRPr lang="en-US" dirty="0" smtClean="0"/>
          </a:p>
          <a:p>
            <a:r>
              <a:rPr lang="en-US" dirty="0" smtClean="0"/>
              <a:t>Removing file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rm</a:t>
            </a:r>
            <a:r>
              <a:rPr lang="en-US" b="1" dirty="0" smtClean="0"/>
              <a:t> sample1.txt</a:t>
            </a:r>
          </a:p>
          <a:p>
            <a:endParaRPr lang="en-US" dirty="0" smtClean="0"/>
          </a:p>
          <a:p>
            <a:r>
              <a:rPr lang="en-US" dirty="0" smtClean="0"/>
              <a:t>Removing multiple files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rm</a:t>
            </a:r>
            <a:r>
              <a:rPr lang="en-US" b="1" dirty="0" smtClean="0"/>
              <a:t> file1 file2 file3</a:t>
            </a:r>
          </a:p>
          <a:p>
            <a:endParaRPr lang="en-US" b="1" dirty="0" smtClean="0"/>
          </a:p>
          <a:p>
            <a:r>
              <a:rPr lang="en-US" dirty="0" smtClean="0"/>
              <a:t>Removing the files interactively 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rm</a:t>
            </a:r>
            <a:r>
              <a:rPr lang="en-US" b="1" dirty="0" smtClean="0"/>
              <a:t> –</a:t>
            </a:r>
            <a:r>
              <a:rPr lang="en-US" b="1" dirty="0" err="1" smtClean="0"/>
              <a:t>i</a:t>
            </a:r>
            <a:r>
              <a:rPr lang="en-US" b="1" dirty="0" smtClean="0"/>
              <a:t> file1 file2 file3</a:t>
            </a:r>
          </a:p>
          <a:p>
            <a:endParaRPr lang="en-US" b="1" dirty="0" smtClean="0"/>
          </a:p>
          <a:p>
            <a:r>
              <a:rPr lang="en-US" dirty="0" smtClean="0"/>
              <a:t> remove directories and their contents recursively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rm</a:t>
            </a:r>
            <a:r>
              <a:rPr lang="en-US" b="1" dirty="0" smtClean="0"/>
              <a:t> –r demo</a:t>
            </a:r>
          </a:p>
          <a:p>
            <a:endParaRPr lang="en-US" b="1" dirty="0" smtClean="0"/>
          </a:p>
          <a:p>
            <a:r>
              <a:rPr lang="en-US" dirty="0" smtClean="0"/>
              <a:t> remove empty directories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rm</a:t>
            </a:r>
            <a:r>
              <a:rPr lang="en-US" b="1" dirty="0" smtClean="0"/>
              <a:t> –d demo1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82296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wc</a:t>
            </a:r>
            <a:r>
              <a:rPr lang="en-US" dirty="0" smtClean="0"/>
              <a:t> (word count) command is used to find out number of newline count, word count, byte and characters count in a files specified by the file arguments. 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wc</a:t>
            </a:r>
            <a:r>
              <a:rPr lang="en-US" b="1" dirty="0" smtClean="0"/>
              <a:t> file2</a:t>
            </a:r>
          </a:p>
          <a:p>
            <a:endParaRPr lang="en-US" b="1" dirty="0" smtClean="0"/>
          </a:p>
          <a:p>
            <a:r>
              <a:rPr lang="en-US" dirty="0" err="1" smtClean="0"/>
              <a:t>wc</a:t>
            </a:r>
            <a:r>
              <a:rPr lang="en-US" dirty="0" smtClean="0"/>
              <a:t> -l : Prints the number of lines in a file.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wc</a:t>
            </a:r>
            <a:r>
              <a:rPr lang="en-US" b="1" dirty="0" smtClean="0"/>
              <a:t> –l file2</a:t>
            </a:r>
          </a:p>
          <a:p>
            <a:endParaRPr lang="en-US" b="1" dirty="0" smtClean="0"/>
          </a:p>
          <a:p>
            <a:r>
              <a:rPr lang="en-US" dirty="0" err="1" smtClean="0"/>
              <a:t>wc</a:t>
            </a:r>
            <a:r>
              <a:rPr lang="en-US" dirty="0" smtClean="0"/>
              <a:t> -w : prints the number of words in a file.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wc</a:t>
            </a:r>
            <a:r>
              <a:rPr lang="en-US" b="1" dirty="0" smtClean="0"/>
              <a:t> –w file2</a:t>
            </a:r>
          </a:p>
          <a:p>
            <a:endParaRPr lang="en-US" dirty="0" smtClean="0"/>
          </a:p>
          <a:p>
            <a:r>
              <a:rPr lang="en-US" dirty="0" err="1" smtClean="0"/>
              <a:t>wc</a:t>
            </a:r>
            <a:r>
              <a:rPr lang="en-US" dirty="0" smtClean="0"/>
              <a:t> -c : Displays the count of bytes in a file.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wc</a:t>
            </a:r>
            <a:r>
              <a:rPr lang="en-US" b="1" dirty="0" smtClean="0"/>
              <a:t> –w file2</a:t>
            </a:r>
          </a:p>
          <a:p>
            <a:endParaRPr lang="en-US" b="1" dirty="0" smtClean="0"/>
          </a:p>
          <a:p>
            <a:r>
              <a:rPr lang="en-US" dirty="0" err="1" smtClean="0"/>
              <a:t>wc</a:t>
            </a:r>
            <a:r>
              <a:rPr lang="en-US" dirty="0" smtClean="0"/>
              <a:t> -m : prints the count of characters from a file.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wc</a:t>
            </a:r>
            <a:r>
              <a:rPr lang="en-US" b="1" dirty="0" smtClean="0"/>
              <a:t> –m file2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610600" cy="706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sort</a:t>
            </a:r>
            <a:r>
              <a:rPr lang="en-US" sz="2400" dirty="0" smtClean="0"/>
              <a:t> </a:t>
            </a:r>
            <a:r>
              <a:rPr lang="en-US" dirty="0" smtClean="0"/>
              <a:t>command is a simple command that can be used to rearrange the contents of text files line by line.</a:t>
            </a:r>
          </a:p>
          <a:p>
            <a:endParaRPr lang="en-US" dirty="0" smtClean="0"/>
          </a:p>
          <a:p>
            <a:r>
              <a:rPr lang="en-US" b="1" dirty="0" smtClean="0"/>
              <a:t>$ cat &gt; file1</a:t>
            </a:r>
          </a:p>
          <a:p>
            <a:r>
              <a:rPr lang="en-US" dirty="0" smtClean="0"/>
              <a:t>ram</a:t>
            </a:r>
          </a:p>
          <a:p>
            <a:r>
              <a:rPr lang="en-US" dirty="0" smtClean="0"/>
              <a:t>sham</a:t>
            </a:r>
          </a:p>
          <a:p>
            <a:r>
              <a:rPr lang="en-US" dirty="0" err="1" smtClean="0"/>
              <a:t>hari</a:t>
            </a:r>
            <a:endParaRPr lang="en-US" dirty="0" smtClean="0"/>
          </a:p>
          <a:p>
            <a:r>
              <a:rPr lang="en-US" dirty="0" err="1" smtClean="0"/>
              <a:t>babjee</a:t>
            </a:r>
            <a:endParaRPr lang="en-US" dirty="0" smtClean="0"/>
          </a:p>
          <a:p>
            <a:r>
              <a:rPr lang="en-US" dirty="0" err="1" smtClean="0"/>
              <a:t>babjee</a:t>
            </a:r>
            <a:endParaRPr lang="en-US" dirty="0" smtClean="0"/>
          </a:p>
          <a:p>
            <a:r>
              <a:rPr lang="en-US" dirty="0" err="1" smtClean="0"/>
              <a:t>braveen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$sort file1</a:t>
            </a:r>
          </a:p>
          <a:p>
            <a:endParaRPr lang="en-US" dirty="0" smtClean="0"/>
          </a:p>
          <a:p>
            <a:r>
              <a:rPr lang="en-US" dirty="0" smtClean="0"/>
              <a:t>Sort the data in descending order</a:t>
            </a:r>
          </a:p>
          <a:p>
            <a:endParaRPr lang="en-US" dirty="0" smtClean="0"/>
          </a:p>
          <a:p>
            <a:r>
              <a:rPr lang="en-US" b="1" dirty="0" smtClean="0"/>
              <a:t>$sort –r file1</a:t>
            </a:r>
          </a:p>
          <a:p>
            <a:endParaRPr lang="en-US" b="1" dirty="0" smtClean="0"/>
          </a:p>
          <a:p>
            <a:r>
              <a:rPr lang="en-US" dirty="0" smtClean="0"/>
              <a:t>Removing duplicate records </a:t>
            </a:r>
          </a:p>
          <a:p>
            <a:endParaRPr lang="en-US" dirty="0" smtClean="0"/>
          </a:p>
          <a:p>
            <a:r>
              <a:rPr lang="en-US" b="1" dirty="0" smtClean="0"/>
              <a:t>$sort –u file1</a:t>
            </a:r>
          </a:p>
          <a:p>
            <a:endParaRPr lang="en-US" b="1" dirty="0" smtClean="0"/>
          </a:p>
          <a:p>
            <a:r>
              <a:rPr lang="en-US" dirty="0" smtClean="0"/>
              <a:t>Numeric sort</a:t>
            </a:r>
          </a:p>
          <a:p>
            <a:endParaRPr lang="en-US" dirty="0" smtClean="0"/>
          </a:p>
          <a:p>
            <a:r>
              <a:rPr lang="en-US" b="1" dirty="0" smtClean="0"/>
              <a:t>$sort –n file2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"/>
            <a:ext cx="6553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sort -M: Sort as per the calendar month specified.</a:t>
            </a:r>
          </a:p>
          <a:p>
            <a:endParaRPr lang="en-US" dirty="0" smtClean="0"/>
          </a:p>
          <a:p>
            <a:r>
              <a:rPr lang="en-US" b="1" dirty="0" smtClean="0"/>
              <a:t>$sort –M file2</a:t>
            </a:r>
          </a:p>
          <a:p>
            <a:endParaRPr lang="en-US" b="1" dirty="0" smtClean="0"/>
          </a:p>
          <a:p>
            <a:r>
              <a:rPr lang="en-US" dirty="0" smtClean="0"/>
              <a:t>sort –</a:t>
            </a:r>
            <a:r>
              <a:rPr lang="en-US" dirty="0" err="1" smtClean="0"/>
              <a:t>i</a:t>
            </a:r>
            <a:r>
              <a:rPr lang="en-US" dirty="0" smtClean="0"/>
              <a:t>: sort data ignoring case</a:t>
            </a:r>
          </a:p>
          <a:p>
            <a:endParaRPr lang="en-US" dirty="0" smtClean="0"/>
          </a:p>
          <a:p>
            <a:r>
              <a:rPr lang="en-US" b="1" dirty="0" smtClean="0"/>
              <a:t>$sort –</a:t>
            </a:r>
            <a:r>
              <a:rPr lang="en-US" b="1" dirty="0" err="1" smtClean="0"/>
              <a:t>i</a:t>
            </a:r>
            <a:r>
              <a:rPr lang="en-US" b="1" dirty="0" smtClean="0"/>
              <a:t> file2</a:t>
            </a:r>
          </a:p>
          <a:p>
            <a:endParaRPr lang="en-US" b="1" dirty="0" smtClean="0"/>
          </a:p>
          <a:p>
            <a:r>
              <a:rPr lang="en-US" dirty="0" smtClean="0"/>
              <a:t>sort -n: Use the numerical value to sort.</a:t>
            </a:r>
          </a:p>
          <a:p>
            <a:endParaRPr lang="en-US" b="1" dirty="0" smtClean="0"/>
          </a:p>
          <a:p>
            <a:r>
              <a:rPr lang="en-US" b="1" dirty="0" smtClean="0"/>
              <a:t>$sort –n file2</a:t>
            </a:r>
          </a:p>
          <a:p>
            <a:endParaRPr lang="en-US" b="1" dirty="0" smtClean="0"/>
          </a:p>
          <a:p>
            <a:r>
              <a:rPr lang="en-US" dirty="0" smtClean="0"/>
              <a:t>sort -k POS1, POS2: Specify a key to do the sorting.</a:t>
            </a:r>
          </a:p>
          <a:p>
            <a:endParaRPr lang="en-US" b="1" dirty="0" smtClean="0"/>
          </a:p>
          <a:p>
            <a:r>
              <a:rPr lang="en-US" b="1" dirty="0" smtClean="0"/>
              <a:t>$sort –k 2 file3</a:t>
            </a:r>
          </a:p>
          <a:p>
            <a:endParaRPr lang="en-US" b="1" dirty="0" smtClean="0"/>
          </a:p>
          <a:p>
            <a:r>
              <a:rPr lang="en-US" dirty="0" smtClean="0"/>
              <a:t>Taking input form  cat command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cat file1 |sort –r</a:t>
            </a:r>
          </a:p>
          <a:p>
            <a:endParaRPr lang="en-US" b="1" dirty="0" smtClean="0"/>
          </a:p>
          <a:p>
            <a:r>
              <a:rPr lang="en-US" dirty="0" smtClean="0"/>
              <a:t>Sending output to file</a:t>
            </a:r>
          </a:p>
          <a:p>
            <a:r>
              <a:rPr lang="en-US" b="1" dirty="0" smtClean="0"/>
              <a:t>Sort –r file1 &gt; file2</a:t>
            </a:r>
          </a:p>
          <a:p>
            <a:endParaRPr lang="en-US" dirty="0" smtClean="0"/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763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echo command</a:t>
            </a:r>
            <a:r>
              <a:rPr lang="en-US" dirty="0" smtClean="0"/>
              <a:t> in </a:t>
            </a:r>
            <a:r>
              <a:rPr lang="en-US" dirty="0" err="1" smtClean="0"/>
              <a:t>linux</a:t>
            </a:r>
            <a:r>
              <a:rPr lang="en-US" dirty="0" smtClean="0"/>
              <a:t> is used to display line of text/string that are passed as an argument .</a:t>
            </a:r>
          </a:p>
          <a:p>
            <a:endParaRPr lang="en-US" dirty="0" smtClean="0"/>
          </a:p>
          <a:p>
            <a:r>
              <a:rPr lang="en-US" b="1" dirty="0" smtClean="0"/>
              <a:t>$echo </a:t>
            </a:r>
            <a:r>
              <a:rPr lang="en-US" b="1" dirty="0" err="1" smtClean="0"/>
              <a:t>babjee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sz="2400" b="1" dirty="0" smtClean="0"/>
              <a:t>head</a:t>
            </a:r>
            <a:r>
              <a:rPr lang="en-US" b="1" dirty="0" smtClean="0"/>
              <a:t> command</a:t>
            </a:r>
            <a:r>
              <a:rPr lang="en-US" dirty="0" smtClean="0"/>
              <a:t> reads the first ten lines of a any given file name</a:t>
            </a:r>
          </a:p>
          <a:p>
            <a:endParaRPr lang="en-US" b="1" dirty="0" smtClean="0"/>
          </a:p>
          <a:p>
            <a:r>
              <a:rPr lang="en-US" b="1" dirty="0" smtClean="0"/>
              <a:t>$head file1</a:t>
            </a:r>
          </a:p>
          <a:p>
            <a:endParaRPr lang="en-US" b="1" dirty="0" smtClean="0"/>
          </a:p>
          <a:p>
            <a:r>
              <a:rPr lang="en-US" dirty="0" smtClean="0"/>
              <a:t>First 5 lines </a:t>
            </a:r>
          </a:p>
          <a:p>
            <a:endParaRPr lang="en-US" dirty="0" smtClean="0"/>
          </a:p>
          <a:p>
            <a:r>
              <a:rPr lang="en-US" b="1" dirty="0" smtClean="0"/>
              <a:t>$head -5 file1</a:t>
            </a:r>
          </a:p>
          <a:p>
            <a:endParaRPr lang="en-US" b="1" dirty="0" smtClean="0"/>
          </a:p>
          <a:p>
            <a:r>
              <a:rPr lang="en-US" dirty="0" smtClean="0"/>
              <a:t> -c,   print the first NUM bytes of each file;</a:t>
            </a:r>
          </a:p>
          <a:p>
            <a:endParaRPr lang="en-US" b="1" dirty="0" smtClean="0"/>
          </a:p>
          <a:p>
            <a:r>
              <a:rPr lang="en-US" b="1" dirty="0" smtClean="0"/>
              <a:t>$head –c 5 file1</a:t>
            </a:r>
          </a:p>
          <a:p>
            <a:endParaRPr lang="en-US" b="1" dirty="0" smtClean="0"/>
          </a:p>
          <a:p>
            <a:r>
              <a:rPr lang="en-US" dirty="0" smtClean="0"/>
              <a:t> -c, --bytes=[-]NUM       print the first NUM bytes of each file;</a:t>
            </a:r>
          </a:p>
          <a:p>
            <a:endParaRPr lang="en-US" b="1" dirty="0" smtClean="0"/>
          </a:p>
          <a:p>
            <a:r>
              <a:rPr lang="en-US" sz="2400" b="1" dirty="0" smtClean="0"/>
              <a:t>tail</a:t>
            </a:r>
            <a:r>
              <a:rPr lang="en-US" dirty="0" smtClean="0"/>
              <a:t> </a:t>
            </a:r>
            <a:r>
              <a:rPr lang="en-US" dirty="0" err="1" smtClean="0"/>
              <a:t>commandprint</a:t>
            </a:r>
            <a:r>
              <a:rPr lang="en-US" dirty="0" smtClean="0"/>
              <a:t> the last N number of data of the given input.-</a:t>
            </a:r>
          </a:p>
          <a:p>
            <a:endParaRPr lang="en-US" b="1" dirty="0" smtClean="0"/>
          </a:p>
          <a:p>
            <a:r>
              <a:rPr lang="en-US" b="1" dirty="0" smtClean="0"/>
              <a:t>$tail  -5 file1</a:t>
            </a:r>
            <a:endParaRPr 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837676" cy="618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Input/output redirections.</a:t>
            </a:r>
          </a:p>
          <a:p>
            <a:r>
              <a:rPr lang="en-US" dirty="0" smtClean="0"/>
              <a:t>Unix system commands take input from your terminal and send the resulting </a:t>
            </a:r>
          </a:p>
          <a:p>
            <a:r>
              <a:rPr lang="en-US" dirty="0" smtClean="0"/>
              <a:t>output back to your terminal. </a:t>
            </a:r>
          </a:p>
          <a:p>
            <a:endParaRPr lang="en-US" b="1" dirty="0" smtClean="0"/>
          </a:p>
          <a:p>
            <a:r>
              <a:rPr lang="en-US" b="1" dirty="0" smtClean="0"/>
              <a:t>Output Redirection</a:t>
            </a:r>
          </a:p>
          <a:p>
            <a:r>
              <a:rPr lang="en-US" dirty="0" smtClean="0"/>
              <a:t>The output from a command normally intended for standard output can be easily</a:t>
            </a:r>
          </a:p>
          <a:p>
            <a:r>
              <a:rPr lang="en-US" dirty="0" smtClean="0"/>
              <a:t> diverted to a file instead. This capability is known as output redirection.</a:t>
            </a:r>
          </a:p>
          <a:p>
            <a:endParaRPr lang="en-US" dirty="0" smtClean="0"/>
          </a:p>
          <a:p>
            <a:r>
              <a:rPr lang="en-US" b="1" dirty="0" smtClean="0"/>
              <a:t>$ who &gt; users</a:t>
            </a:r>
          </a:p>
          <a:p>
            <a:endParaRPr lang="en-US" b="1" dirty="0" smtClean="0"/>
          </a:p>
          <a:p>
            <a:r>
              <a:rPr lang="en-US" b="1" dirty="0" smtClean="0"/>
              <a:t>$ echo line 1 &gt; users</a:t>
            </a:r>
          </a:p>
          <a:p>
            <a:endParaRPr lang="en-US" b="1" dirty="0" smtClean="0"/>
          </a:p>
          <a:p>
            <a:r>
              <a:rPr lang="en-US" dirty="0" smtClean="0"/>
              <a:t>Input Redirection</a:t>
            </a:r>
          </a:p>
          <a:p>
            <a:r>
              <a:rPr lang="en-US" dirty="0" smtClean="0"/>
              <a:t>input of a command be redirected from a file.</a:t>
            </a:r>
          </a:p>
          <a:p>
            <a:endParaRPr lang="en-US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wc</a:t>
            </a:r>
            <a:r>
              <a:rPr lang="en-US" b="1" dirty="0" smtClean="0"/>
              <a:t> -l &lt; users</a:t>
            </a:r>
          </a:p>
          <a:p>
            <a:endParaRPr lang="en-US" b="1" dirty="0" smtClean="0"/>
          </a:p>
          <a:p>
            <a:r>
              <a:rPr lang="en-US" b="1" dirty="0" smtClean="0"/>
              <a:t>Redirecting command</a:t>
            </a:r>
          </a:p>
          <a:p>
            <a:endParaRPr lang="en-US" b="1" dirty="0" smtClean="0"/>
          </a:p>
          <a:p>
            <a:r>
              <a:rPr lang="en-US" b="1" dirty="0" smtClean="0"/>
              <a:t>$who | </a:t>
            </a:r>
            <a:r>
              <a:rPr lang="en-US" b="1" dirty="0" err="1" smtClean="0"/>
              <a:t>wc</a:t>
            </a:r>
            <a:r>
              <a:rPr lang="en-US" b="1" dirty="0" smtClean="0"/>
              <a:t> -w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5344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cut command</a:t>
            </a:r>
            <a:r>
              <a:rPr lang="en-US" dirty="0" smtClean="0"/>
              <a:t>  use to cutting out the sections from each line of files and writing the result to standard output.</a:t>
            </a:r>
          </a:p>
          <a:p>
            <a:endParaRPr lang="en-US" dirty="0" smtClean="0"/>
          </a:p>
          <a:p>
            <a:r>
              <a:rPr lang="en-US" dirty="0" smtClean="0"/>
              <a:t>cat &gt; </a:t>
            </a:r>
            <a:r>
              <a:rPr lang="en-US" dirty="0" err="1" smtClean="0"/>
              <a:t>emp</a:t>
            </a:r>
            <a:endParaRPr lang="en-US" dirty="0" smtClean="0"/>
          </a:p>
          <a:p>
            <a:r>
              <a:rPr lang="en-US" dirty="0" smtClean="0"/>
              <a:t>1001|unix programming|300</a:t>
            </a:r>
          </a:p>
          <a:p>
            <a:r>
              <a:rPr lang="en-US" dirty="0" smtClean="0"/>
              <a:t>1002|SQL |475</a:t>
            </a:r>
          </a:p>
          <a:p>
            <a:r>
              <a:rPr lang="en-US" dirty="0" smtClean="0"/>
              <a:t>1003|Informatica|598</a:t>
            </a:r>
          </a:p>
          <a:p>
            <a:endParaRPr lang="en-US" dirty="0" smtClean="0"/>
          </a:p>
          <a:p>
            <a:r>
              <a:rPr lang="en-US" b="1" dirty="0" smtClean="0"/>
              <a:t>cut  -c4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 -c1-4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 -c1,4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  -c -4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 -c6-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-d'|' -f2 </a:t>
            </a:r>
            <a:r>
              <a:rPr lang="en-US" b="1" dirty="0" err="1" smtClean="0"/>
              <a:t>emp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cut -d'|' -f1-2 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1"/>
            <a:ext cx="81534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uniq</a:t>
            </a:r>
            <a:r>
              <a:rPr lang="en-US" dirty="0" smtClean="0"/>
              <a:t> is the tool that helps to detect the adjacent duplicate lines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uniq</a:t>
            </a:r>
            <a:r>
              <a:rPr lang="en-US" b="1" dirty="0" smtClean="0"/>
              <a:t> file1</a:t>
            </a:r>
          </a:p>
          <a:p>
            <a:endParaRPr lang="en-US" b="1" dirty="0" smtClean="0"/>
          </a:p>
          <a:p>
            <a:r>
              <a:rPr lang="en-US" dirty="0" smtClean="0"/>
              <a:t> -c, --count           prefix lines by the number of occurrences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uniq</a:t>
            </a:r>
            <a:r>
              <a:rPr lang="en-US" b="1" dirty="0" smtClean="0"/>
              <a:t> –c file1</a:t>
            </a:r>
          </a:p>
          <a:p>
            <a:endParaRPr lang="en-US" b="1" dirty="0" smtClean="0"/>
          </a:p>
          <a:p>
            <a:r>
              <a:rPr lang="en-US" dirty="0" smtClean="0"/>
              <a:t> -d, --repeated        only print duplicate lines, one for each group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uniq</a:t>
            </a:r>
            <a:r>
              <a:rPr lang="en-US" b="1" dirty="0" smtClean="0"/>
              <a:t> –d file1</a:t>
            </a:r>
          </a:p>
          <a:p>
            <a:endParaRPr lang="en-US" b="1" dirty="0" smtClean="0"/>
          </a:p>
          <a:p>
            <a:r>
              <a:rPr lang="en-US" dirty="0" smtClean="0"/>
              <a:t> -D                    print all duplicate lines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uniq</a:t>
            </a:r>
            <a:r>
              <a:rPr lang="en-US" b="1" dirty="0" smtClean="0"/>
              <a:t> –D file1</a:t>
            </a:r>
          </a:p>
          <a:p>
            <a:endParaRPr lang="en-US" b="1" dirty="0" smtClean="0"/>
          </a:p>
          <a:p>
            <a:r>
              <a:rPr lang="en-US" dirty="0" smtClean="0"/>
              <a:t> -</a:t>
            </a:r>
            <a:r>
              <a:rPr lang="en-US" dirty="0" err="1" smtClean="0"/>
              <a:t>i</a:t>
            </a:r>
            <a:r>
              <a:rPr lang="en-US" dirty="0" smtClean="0"/>
              <a:t>, --ignore-case     ignore differences in case when comparing</a:t>
            </a:r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uniq</a:t>
            </a:r>
            <a:r>
              <a:rPr lang="en-US" b="1" dirty="0" smtClean="0"/>
              <a:t> –</a:t>
            </a:r>
            <a:r>
              <a:rPr lang="en-US" b="1" dirty="0" err="1" smtClean="0"/>
              <a:t>i</a:t>
            </a:r>
            <a:r>
              <a:rPr lang="en-US" b="1" dirty="0" smtClean="0"/>
              <a:t> file1</a:t>
            </a:r>
          </a:p>
          <a:p>
            <a:endParaRPr lang="en-US" b="1" dirty="0" smtClean="0"/>
          </a:p>
          <a:p>
            <a:r>
              <a:rPr lang="en-US" dirty="0" smtClean="0"/>
              <a:t>-u, --unique          only print unique lines</a:t>
            </a:r>
          </a:p>
          <a:p>
            <a:endParaRPr lang="en-US" dirty="0" smtClean="0"/>
          </a:p>
          <a:p>
            <a:r>
              <a:rPr lang="en-US" dirty="0" smtClean="0"/>
              <a:t>$</a:t>
            </a:r>
            <a:r>
              <a:rPr lang="en-US" dirty="0" err="1" smtClean="0"/>
              <a:t>uniq</a:t>
            </a:r>
            <a:r>
              <a:rPr lang="en-US" dirty="0" smtClean="0"/>
              <a:t> –u file1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534400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cmp</a:t>
            </a:r>
            <a:r>
              <a:rPr lang="en-US" sz="2400" dirty="0" smtClean="0"/>
              <a:t> </a:t>
            </a:r>
            <a:r>
              <a:rPr lang="en-US" dirty="0" smtClean="0"/>
              <a:t>- Compare two files, and if they differ, tells the first byte and line number where they differ.</a:t>
            </a:r>
          </a:p>
          <a:p>
            <a:endParaRPr lang="en-US" dirty="0" smtClean="0"/>
          </a:p>
          <a:p>
            <a:r>
              <a:rPr lang="en-US" dirty="0" smtClean="0"/>
              <a:t>$ cat &gt; sample.txt </a:t>
            </a:r>
          </a:p>
          <a:p>
            <a:r>
              <a:rPr lang="en-US" dirty="0" smtClean="0"/>
              <a:t>This is a sample text file </a:t>
            </a:r>
          </a:p>
          <a:p>
            <a:endParaRPr lang="en-US" dirty="0" smtClean="0"/>
          </a:p>
          <a:p>
            <a:r>
              <a:rPr lang="en-US" dirty="0" smtClean="0"/>
              <a:t>$ cat &gt;sample1.txt </a:t>
            </a:r>
          </a:p>
          <a:p>
            <a:r>
              <a:rPr lang="en-US" dirty="0" smtClean="0"/>
              <a:t>This is another sample file </a:t>
            </a:r>
          </a:p>
          <a:p>
            <a:endParaRPr lang="en-US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cmp</a:t>
            </a:r>
            <a:r>
              <a:rPr lang="en-US" b="1" dirty="0" smtClean="0"/>
              <a:t> sample.txt sample1.txt </a:t>
            </a:r>
          </a:p>
          <a:p>
            <a:r>
              <a:rPr lang="en-US" dirty="0" smtClean="0"/>
              <a:t>sample.txt sample1.txt differ: byte 10, line 1</a:t>
            </a:r>
          </a:p>
          <a:p>
            <a:endParaRPr lang="en-US" dirty="0" smtClean="0"/>
          </a:p>
          <a:p>
            <a:pPr algn="just"/>
            <a:r>
              <a:rPr lang="en-US" sz="2800" b="1" dirty="0" err="1" smtClean="0"/>
              <a:t>comm</a:t>
            </a:r>
            <a:r>
              <a:rPr lang="en-US" b="1" dirty="0" smtClean="0"/>
              <a:t> </a:t>
            </a:r>
            <a:r>
              <a:rPr lang="en-US" dirty="0" smtClean="0"/>
              <a:t>Commands (Comparing Files):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dirty="0" smtClean="0"/>
              <a:t>   The </a:t>
            </a:r>
            <a:r>
              <a:rPr lang="en-US" dirty="0" err="1" smtClean="0"/>
              <a:t>comm</a:t>
            </a:r>
            <a:r>
              <a:rPr lang="en-US" dirty="0" smtClean="0"/>
              <a:t> command compares two sorted files. It gives a 3 columnar output. </a:t>
            </a:r>
          </a:p>
          <a:p>
            <a:pPr marL="342836" lvl="2" indent="-226971" algn="just"/>
            <a:endParaRPr lang="en-US" dirty="0" smtClean="0"/>
          </a:p>
          <a:p>
            <a:pPr marL="342836" lvl="2" indent="-226971" algn="just"/>
            <a:r>
              <a:rPr lang="en-US" dirty="0" smtClean="0"/>
              <a:t>First column contains lines unique to the first file. </a:t>
            </a:r>
          </a:p>
          <a:p>
            <a:pPr marL="342836" lvl="2" indent="-226971" algn="just"/>
            <a:endParaRPr lang="en-US" dirty="0" smtClean="0"/>
          </a:p>
          <a:p>
            <a:pPr marL="342836" lvl="2" indent="-226971" algn="just"/>
            <a:r>
              <a:rPr lang="en-US" dirty="0" smtClean="0"/>
              <a:t>Second column contains lines unique to the second file. </a:t>
            </a:r>
          </a:p>
          <a:p>
            <a:pPr marL="342836" lvl="2" indent="-226971" algn="just"/>
            <a:endParaRPr lang="en-US" dirty="0" smtClean="0"/>
          </a:p>
          <a:p>
            <a:pPr marL="342836" lvl="2" indent="-226971" algn="just"/>
            <a:r>
              <a:rPr lang="en-US" dirty="0" smtClean="0"/>
              <a:t>Third column displays the common lines.</a:t>
            </a:r>
          </a:p>
          <a:p>
            <a:pPr algn="just"/>
            <a:r>
              <a:rPr lang="en-US" dirty="0" smtClean="0"/>
              <a:t> 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2150" y="914401"/>
            <a:ext cx="5219700" cy="416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152400"/>
            <a:ext cx="81534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What is vi?</a:t>
            </a:r>
          </a:p>
          <a:p>
            <a:r>
              <a:rPr lang="en-US" dirty="0" smtClean="0"/>
              <a:t>The default editor that comes with the UNIX operating system is called vi (visual editor).</a:t>
            </a:r>
          </a:p>
          <a:p>
            <a:endParaRPr lang="en-US" dirty="0" smtClean="0"/>
          </a:p>
          <a:p>
            <a:r>
              <a:rPr lang="en-US" dirty="0" smtClean="0"/>
              <a:t>use the vi editor to create ordinary files on any Unix system.</a:t>
            </a:r>
          </a:p>
          <a:p>
            <a:endParaRPr lang="en-US" dirty="0" smtClean="0"/>
          </a:p>
          <a:p>
            <a:r>
              <a:rPr lang="en-US" b="1" dirty="0" smtClean="0"/>
              <a:t>$ vi filename</a:t>
            </a:r>
          </a:p>
          <a:p>
            <a:endParaRPr lang="en-US" dirty="0" smtClean="0"/>
          </a:p>
          <a:p>
            <a:r>
              <a:rPr lang="en-US" dirty="0" smtClean="0"/>
              <a:t>press the key </a:t>
            </a:r>
            <a:r>
              <a:rPr lang="en-US" b="1" dirty="0" err="1" smtClean="0"/>
              <a:t>i</a:t>
            </a:r>
            <a:r>
              <a:rPr lang="en-US" dirty="0" smtClean="0"/>
              <a:t> to come into the edit mode.</a:t>
            </a:r>
          </a:p>
          <a:p>
            <a:endParaRPr lang="en-US" dirty="0" smtClean="0"/>
          </a:p>
          <a:p>
            <a:r>
              <a:rPr lang="en-US" dirty="0" smtClean="0"/>
              <a:t> Press the key </a:t>
            </a:r>
            <a:r>
              <a:rPr lang="en-US" b="1" dirty="0" smtClean="0"/>
              <a:t>esc</a:t>
            </a:r>
            <a:r>
              <a:rPr lang="en-US" dirty="0" smtClean="0"/>
              <a:t> to come out of the edit mode.</a:t>
            </a:r>
          </a:p>
          <a:p>
            <a:endParaRPr lang="en-US" dirty="0" smtClean="0"/>
          </a:p>
          <a:p>
            <a:r>
              <a:rPr lang="en-US" dirty="0" smtClean="0"/>
              <a:t> Press two keys </a:t>
            </a:r>
            <a:r>
              <a:rPr lang="en-US" b="1" dirty="0" smtClean="0"/>
              <a:t>Shift + Z </a:t>
            </a:r>
            <a:r>
              <a:rPr lang="en-US" dirty="0" smtClean="0"/>
              <a:t>together to come out of the file completely.</a:t>
            </a:r>
          </a:p>
          <a:p>
            <a:endParaRPr lang="en-US" dirty="0" smtClean="0"/>
          </a:p>
          <a:p>
            <a:r>
              <a:rPr lang="en-US" b="1" dirty="0" smtClean="0"/>
              <a:t>Editing Files</a:t>
            </a:r>
          </a:p>
          <a:p>
            <a:endParaRPr lang="en-US" b="1" dirty="0" smtClean="0"/>
          </a:p>
          <a:p>
            <a:r>
              <a:rPr lang="en-US" b="1" dirty="0" smtClean="0"/>
              <a:t>$ vi filename</a:t>
            </a:r>
          </a:p>
          <a:p>
            <a:endParaRPr lang="en-US" b="1" dirty="0" smtClean="0"/>
          </a:p>
          <a:p>
            <a:r>
              <a:rPr lang="en-US" b="1" dirty="0" smtClean="0"/>
              <a:t>.</a:t>
            </a:r>
            <a:endParaRPr lang="en-US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4401"/>
            <a:ext cx="8763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8534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Moving within a File</a:t>
            </a:r>
          </a:p>
          <a:p>
            <a:r>
              <a:rPr lang="en-US" dirty="0" smtClean="0"/>
              <a:t>To move around within a file without affecting your text, you must be in the command mode (press Esc twice)</a:t>
            </a:r>
            <a:endParaRPr lang="en-US" dirty="0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3657600"/>
            <a:ext cx="85344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088" y="304800"/>
            <a:ext cx="6981825" cy="583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609600"/>
            <a:ext cx="7134225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50" y="762000"/>
            <a:ext cx="7048500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79248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nl</a:t>
            </a:r>
            <a:r>
              <a:rPr lang="en-US" b="1" dirty="0" smtClean="0"/>
              <a:t> command: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err="1" smtClean="0"/>
              <a:t>nl</a:t>
            </a:r>
            <a:r>
              <a:rPr lang="en-US" b="1" dirty="0" smtClean="0"/>
              <a:t> </a:t>
            </a:r>
            <a:r>
              <a:rPr lang="en-US" dirty="0" smtClean="0"/>
              <a:t>command is used to print file contents along with line numbers.</a:t>
            </a:r>
          </a:p>
          <a:p>
            <a:pPr lvl="1"/>
            <a:r>
              <a:rPr lang="en-US" dirty="0" smtClean="0"/>
              <a:t>Options: </a:t>
            </a:r>
          </a:p>
          <a:p>
            <a:pPr lvl="2"/>
            <a:r>
              <a:rPr lang="en-US" dirty="0" smtClean="0"/>
              <a:t>-w  : width of the number</a:t>
            </a:r>
          </a:p>
          <a:p>
            <a:pPr lvl="2"/>
            <a:r>
              <a:rPr lang="en-US" dirty="0" smtClean="0"/>
              <a:t>-v   : Indicate first line number</a:t>
            </a:r>
          </a:p>
          <a:p>
            <a:pPr lvl="2"/>
            <a:r>
              <a:rPr lang="en-US" dirty="0" smtClean="0"/>
              <a:t>-</a:t>
            </a:r>
            <a:r>
              <a:rPr lang="en-US" dirty="0" err="1" smtClean="0"/>
              <a:t>i</a:t>
            </a:r>
            <a:r>
              <a:rPr lang="en-US" dirty="0" smtClean="0"/>
              <a:t>    : increment line number by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nl</a:t>
            </a:r>
            <a:r>
              <a:rPr lang="en-US" b="1" dirty="0" smtClean="0">
                <a:latin typeface="Candara"/>
              </a:rPr>
              <a:t> myfile.txt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r>
              <a:rPr lang="en-US" dirty="0" smtClean="0"/>
              <a:t>Here is an example where we have used -</a:t>
            </a:r>
            <a:r>
              <a:rPr lang="en-US" dirty="0" err="1" smtClean="0"/>
              <a:t>i</a:t>
            </a:r>
            <a:r>
              <a:rPr lang="en-US" dirty="0" smtClean="0"/>
              <a:t> to increase the line number increment to 5 :</a:t>
            </a:r>
          </a:p>
          <a:p>
            <a:endParaRPr lang="en-US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nl</a:t>
            </a:r>
            <a:r>
              <a:rPr lang="en-US" b="1" dirty="0" smtClean="0"/>
              <a:t> -i5 myfile.txt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nl</a:t>
            </a:r>
            <a:r>
              <a:rPr lang="en-US" b="1" dirty="0" smtClean="0"/>
              <a:t> -w1 myfile.txt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7010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who Command:</a:t>
            </a:r>
          </a:p>
          <a:p>
            <a:pPr lvl="1"/>
            <a:r>
              <a:rPr lang="en-US" dirty="0" smtClean="0"/>
              <a:t>To list all users who are currently logged in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$who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$who am </a:t>
            </a:r>
            <a:r>
              <a:rPr lang="en-US" dirty="0" err="1" smtClean="0"/>
              <a:t>i</a:t>
            </a:r>
            <a:r>
              <a:rPr lang="en-US" dirty="0" smtClean="0"/>
              <a:t> Command:    </a:t>
            </a:r>
          </a:p>
          <a:p>
            <a:pPr lvl="1"/>
            <a:r>
              <a:rPr lang="en-US" dirty="0" smtClean="0"/>
              <a:t>To see the current user</a:t>
            </a:r>
          </a:p>
          <a:p>
            <a:r>
              <a:rPr lang="en-US" dirty="0" smtClean="0"/>
              <a:t>       $who am I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97346"/>
            <a:ext cx="7772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58" indent="-228558" algn="just"/>
            <a:r>
              <a:rPr lang="en-US" dirty="0" smtClean="0"/>
              <a:t>File </a:t>
            </a:r>
            <a:r>
              <a:rPr lang="en-US" dirty="0" err="1" smtClean="0"/>
              <a:t>Permisson</a:t>
            </a:r>
            <a:endParaRPr lang="en-US" dirty="0" smtClean="0"/>
          </a:p>
          <a:p>
            <a:pPr marL="228558" indent="-228558" algn="just"/>
            <a:endParaRPr lang="en-US" dirty="0" smtClean="0"/>
          </a:p>
          <a:p>
            <a:pPr marL="228558" indent="-228558" algn="just"/>
            <a:r>
              <a:rPr lang="en-US" dirty="0" smtClean="0"/>
              <a:t>Every file in UNIX has a set of permissions using which it is determined “who can do what” with the file. This is stored as part of </a:t>
            </a:r>
            <a:r>
              <a:rPr lang="en-US" b="1" dirty="0" err="1" smtClean="0"/>
              <a:t>inode</a:t>
            </a:r>
            <a:r>
              <a:rPr lang="en-US" dirty="0" smtClean="0"/>
              <a:t> information, and is useful for maintaining file security.</a:t>
            </a:r>
          </a:p>
          <a:p>
            <a:pPr marL="228558" indent="-228558" algn="just"/>
            <a:r>
              <a:rPr lang="en-US" dirty="0" smtClean="0"/>
              <a:t>	</a:t>
            </a:r>
          </a:p>
          <a:p>
            <a:pPr marL="228558" indent="-228558" algn="just"/>
            <a:r>
              <a:rPr lang="en-US" dirty="0" smtClean="0"/>
              <a:t>	</a:t>
            </a:r>
          </a:p>
          <a:p>
            <a:pPr marL="228558" indent="-228558" algn="just"/>
            <a:r>
              <a:rPr lang="en-US" dirty="0" smtClean="0"/>
              <a:t>	It is the file permissions based on which reading, writing or executing a file is decided for a particular user.  It helps in giving restricted access to a file.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124200"/>
            <a:ext cx="27527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28600" y="482667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File type</a:t>
            </a:r>
          </a:p>
          <a:p>
            <a:pPr lvl="1"/>
            <a:r>
              <a:rPr lang="en-US" dirty="0" smtClean="0"/>
              <a:t>1 </a:t>
            </a:r>
            <a:r>
              <a:rPr lang="en-US" dirty="0" err="1" smtClean="0"/>
              <a:t>st</a:t>
            </a:r>
            <a:r>
              <a:rPr lang="en-US" dirty="0" smtClean="0"/>
              <a:t> character represents file type:</a:t>
            </a:r>
          </a:p>
          <a:p>
            <a:pPr>
              <a:buFont typeface="Arial" pitchFamily="34" charset="0"/>
              <a:buNone/>
            </a:pPr>
            <a:r>
              <a:rPr lang="en-US" dirty="0" smtClean="0"/>
              <a:t>		-   r w x   r w x   r w x </a:t>
            </a:r>
          </a:p>
          <a:p>
            <a:pPr lvl="2"/>
            <a:r>
              <a:rPr lang="en-US" dirty="0" smtClean="0"/>
              <a:t>-   --&gt; regular file</a:t>
            </a:r>
          </a:p>
          <a:p>
            <a:pPr lvl="2"/>
            <a:r>
              <a:rPr lang="en-US" dirty="0" smtClean="0"/>
              <a:t>d --&gt; directory file</a:t>
            </a:r>
          </a:p>
          <a:p>
            <a:pPr lvl="2"/>
            <a:r>
              <a:rPr lang="en-US" dirty="0" smtClean="0"/>
              <a:t>c --&gt; character - read</a:t>
            </a:r>
          </a:p>
          <a:p>
            <a:pPr lvl="2"/>
            <a:r>
              <a:rPr lang="en-US" dirty="0" smtClean="0"/>
              <a:t>b --&gt; block read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17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chmod</a:t>
            </a:r>
            <a:r>
              <a:rPr lang="en-US" dirty="0" smtClean="0"/>
              <a:t> Command (Alter File Permissions)</a:t>
            </a:r>
          </a:p>
          <a:p>
            <a:endParaRPr lang="en-US" dirty="0" smtClean="0"/>
          </a:p>
          <a:p>
            <a:pPr marL="0" lvl="1"/>
            <a:r>
              <a:rPr lang="en-US" dirty="0" err="1" smtClean="0">
                <a:latin typeface="Candara"/>
              </a:rPr>
              <a:t>chmod</a:t>
            </a:r>
            <a:r>
              <a:rPr lang="en-US" dirty="0" smtClean="0">
                <a:latin typeface="Candara"/>
              </a:rPr>
              <a:t> &lt;category&gt; &lt;operation&gt; &lt;permission&gt; &lt;filenames&gt;</a:t>
            </a:r>
          </a:p>
          <a:p>
            <a:endParaRPr lang="en-US" dirty="0"/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304800" y="1600200"/>
          <a:ext cx="7848600" cy="1663700"/>
        </p:xfrm>
        <a:graphic>
          <a:graphicData uri="http://schemas.openxmlformats.org/drawingml/2006/table">
            <a:tbl>
              <a:tblPr/>
              <a:tblGrid>
                <a:gridCol w="1752600"/>
                <a:gridCol w="3257550"/>
                <a:gridCol w="2838450"/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Category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Operations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Attribute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u-user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+assigns permission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r-read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g-group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-remove permission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w-write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o-others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cs typeface="Arial" pitchFamily="34" charset="0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x-execute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ndara" pitchFamily="34" charset="0"/>
                          <a:cs typeface="Arial" pitchFamily="34" charset="0"/>
                        </a:rPr>
                        <a:t>a-all</a:t>
                      </a: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cs typeface="Arial" pitchFamily="34" charset="0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itchFamily="34" charset="0"/>
                        <a:cs typeface="Arial" pitchFamily="34" charset="0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14400" y="39624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lvl="1">
              <a:lnSpc>
                <a:spcPct val="100000"/>
              </a:lnSpc>
              <a:buClrTx/>
            </a:pPr>
            <a:r>
              <a:rPr lang="pt-BR" b="1" dirty="0" smtClean="0">
                <a:latin typeface="Candara"/>
              </a:rPr>
              <a:t>$ chmod u+x note</a:t>
            </a:r>
          </a:p>
          <a:p>
            <a:pPr marL="465138" lvl="1">
              <a:lnSpc>
                <a:spcPct val="100000"/>
              </a:lnSpc>
              <a:buClrTx/>
            </a:pPr>
            <a:r>
              <a:rPr lang="pt-BR" b="1" dirty="0" smtClean="0">
                <a:latin typeface="Candara"/>
              </a:rPr>
              <a:t>$ ls - l note</a:t>
            </a:r>
          </a:p>
          <a:p>
            <a:pPr marL="465138" lvl="1">
              <a:lnSpc>
                <a:spcPct val="100000"/>
              </a:lnSpc>
              <a:buClrTx/>
            </a:pPr>
            <a:r>
              <a:rPr lang="pt-BR" b="1" dirty="0" smtClean="0">
                <a:latin typeface="Candara"/>
              </a:rPr>
              <a:t>	-rwx r-- r --1 ……	note</a:t>
            </a:r>
            <a:endParaRPr lang="en-US" b="1" dirty="0">
              <a:latin typeface="Candar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9200" y="5257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65138"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</a:t>
            </a:r>
            <a:r>
              <a:rPr lang="en-US" b="1" dirty="0" err="1" smtClean="0">
                <a:latin typeface="Candara"/>
              </a:rPr>
              <a:t>ugo+x</a:t>
            </a:r>
            <a:r>
              <a:rPr lang="en-US" b="1" dirty="0" smtClean="0">
                <a:latin typeface="Candara"/>
              </a:rPr>
              <a:t>	note</a:t>
            </a:r>
          </a:p>
          <a:p>
            <a:pPr marL="465138"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ls</a:t>
            </a:r>
            <a:r>
              <a:rPr lang="en-US" b="1" dirty="0" smtClean="0">
                <a:latin typeface="Candara"/>
              </a:rPr>
              <a:t> - l note</a:t>
            </a:r>
          </a:p>
          <a:p>
            <a:pPr marL="465138"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   -</a:t>
            </a:r>
            <a:r>
              <a:rPr lang="en-US" b="1" dirty="0" err="1" smtClean="0">
                <a:latin typeface="Candara"/>
              </a:rPr>
              <a:t>rwxr</a:t>
            </a:r>
            <a:r>
              <a:rPr lang="en-US" b="1" dirty="0" smtClean="0">
                <a:latin typeface="Candara"/>
              </a:rPr>
              <a:t>-</a:t>
            </a:r>
            <a:r>
              <a:rPr lang="en-US" b="1" dirty="0" err="1" smtClean="0">
                <a:latin typeface="Candara"/>
              </a:rPr>
              <a:t>xr</a:t>
            </a:r>
            <a:r>
              <a:rPr lang="en-US" b="1" dirty="0" smtClean="0">
                <a:latin typeface="Candara"/>
              </a:rPr>
              <a:t>-x ……	note</a:t>
            </a:r>
            <a:endParaRPr lang="en-US" b="1" dirty="0">
              <a:latin typeface="Candar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381000"/>
            <a:ext cx="7086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u-x, </a:t>
            </a:r>
            <a:r>
              <a:rPr lang="en-US" b="1" dirty="0" err="1" smtClean="0">
                <a:latin typeface="Candara"/>
              </a:rPr>
              <a:t>go+r</a:t>
            </a:r>
            <a:r>
              <a:rPr lang="en-US" b="1" dirty="0" smtClean="0">
                <a:latin typeface="Candara"/>
              </a:rPr>
              <a:t>	note</a:t>
            </a:r>
          </a:p>
          <a:p>
            <a:pPr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	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</a:t>
            </a:r>
            <a:r>
              <a:rPr lang="en-US" b="1" dirty="0" err="1" smtClean="0">
                <a:latin typeface="Candara"/>
              </a:rPr>
              <a:t>u+x</a:t>
            </a:r>
            <a:r>
              <a:rPr lang="en-US" b="1" dirty="0" smtClean="0">
                <a:latin typeface="Candara"/>
              </a:rPr>
              <a:t>	note	note1	note2</a:t>
            </a:r>
          </a:p>
          <a:p>
            <a:pPr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	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</a:t>
            </a:r>
            <a:r>
              <a:rPr lang="en-US" b="1" dirty="0" err="1" smtClean="0">
                <a:latin typeface="Candara"/>
              </a:rPr>
              <a:t>o+wx</a:t>
            </a:r>
            <a:r>
              <a:rPr lang="en-US" b="1" dirty="0" smtClean="0">
                <a:latin typeface="Candara"/>
              </a:rPr>
              <a:t>	note</a:t>
            </a:r>
          </a:p>
          <a:p>
            <a:pPr lvl="1">
              <a:lnSpc>
                <a:spcPct val="100000"/>
              </a:lnSpc>
              <a:buClrTx/>
            </a:pPr>
            <a:r>
              <a:rPr lang="en-US" b="1" dirty="0" smtClean="0">
                <a:latin typeface="Candara"/>
              </a:rPr>
              <a:t>	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</a:t>
            </a:r>
            <a:r>
              <a:rPr lang="en-US" b="1" dirty="0" err="1" smtClean="0">
                <a:latin typeface="Candara"/>
              </a:rPr>
              <a:t>ugo</a:t>
            </a:r>
            <a:r>
              <a:rPr lang="en-US" b="1" dirty="0" smtClean="0">
                <a:latin typeface="Candara"/>
              </a:rPr>
              <a:t>=r 	note</a:t>
            </a:r>
          </a:p>
          <a:p>
            <a:pPr lvl="1">
              <a:lnSpc>
                <a:spcPct val="100000"/>
              </a:lnSpc>
              <a:buClrTx/>
            </a:pPr>
            <a:endParaRPr lang="en-US" b="1" dirty="0" smtClean="0">
              <a:latin typeface="Candara"/>
            </a:endParaRPr>
          </a:p>
          <a:p>
            <a:pPr lvl="1">
              <a:lnSpc>
                <a:spcPct val="100000"/>
              </a:lnSpc>
              <a:buClrTx/>
            </a:pPr>
            <a:endParaRPr lang="en-US" b="1" dirty="0" smtClean="0">
              <a:latin typeface="Candara"/>
            </a:endParaRPr>
          </a:p>
          <a:p>
            <a:r>
              <a:rPr lang="en-US" dirty="0" smtClean="0"/>
              <a:t>Octal notation:</a:t>
            </a:r>
          </a:p>
          <a:p>
            <a:pPr lvl="1"/>
            <a:r>
              <a:rPr lang="en-US" dirty="0" smtClean="0"/>
              <a:t>It describes both category and permission.</a:t>
            </a:r>
          </a:p>
          <a:p>
            <a:pPr lvl="1"/>
            <a:endParaRPr lang="en-US" dirty="0" smtClean="0"/>
          </a:p>
          <a:p>
            <a:pPr lvl="2"/>
            <a:r>
              <a:rPr lang="en-US" b="1" dirty="0" smtClean="0"/>
              <a:t>read permission: assigned value is 4</a:t>
            </a:r>
          </a:p>
          <a:p>
            <a:pPr lvl="2"/>
            <a:r>
              <a:rPr lang="en-US" b="1" dirty="0" smtClean="0"/>
              <a:t>write permission: assigned value is 2</a:t>
            </a:r>
          </a:p>
          <a:p>
            <a:pPr lvl="2"/>
            <a:r>
              <a:rPr lang="en-US" b="1" dirty="0" smtClean="0"/>
              <a:t>execute permission: assigned value is 1</a:t>
            </a:r>
          </a:p>
          <a:p>
            <a:pPr lvl="2"/>
            <a:endParaRPr lang="en-US" b="1" dirty="0" smtClean="0"/>
          </a:p>
          <a:p>
            <a:pPr lvl="2"/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  666	note</a:t>
            </a:r>
          </a:p>
          <a:p>
            <a:pPr lvl="2"/>
            <a:endParaRPr lang="en-US" b="1" dirty="0" smtClean="0"/>
          </a:p>
          <a:p>
            <a:pPr lvl="2"/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  777	note</a:t>
            </a:r>
          </a:p>
          <a:p>
            <a:pPr lvl="2"/>
            <a:endParaRPr lang="en-US" b="1" dirty="0" smtClean="0"/>
          </a:p>
          <a:p>
            <a:pPr lvl="2"/>
            <a:endParaRPr lang="en-US" b="1" dirty="0" smtClean="0"/>
          </a:p>
          <a:p>
            <a:pPr lvl="2"/>
            <a:r>
              <a:rPr lang="en-US" b="1" dirty="0" smtClean="0">
                <a:latin typeface="Candara"/>
              </a:rPr>
              <a:t>$ </a:t>
            </a:r>
            <a:r>
              <a:rPr lang="en-US" b="1" dirty="0" err="1" smtClean="0">
                <a:latin typeface="Candara"/>
              </a:rPr>
              <a:t>chmod</a:t>
            </a:r>
            <a:r>
              <a:rPr lang="en-US" b="1" dirty="0" smtClean="0">
                <a:latin typeface="Candara"/>
              </a:rPr>
              <a:t>   753	note	</a:t>
            </a:r>
          </a:p>
          <a:p>
            <a:pPr lvl="2"/>
            <a:endParaRPr lang="en-US" b="1" dirty="0" smtClean="0"/>
          </a:p>
          <a:p>
            <a:pPr lvl="1">
              <a:lnSpc>
                <a:spcPct val="100000"/>
              </a:lnSpc>
              <a:buClrTx/>
            </a:pPr>
            <a:endParaRPr lang="en-US" b="1" dirty="0">
              <a:latin typeface="Candar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1535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tr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533400"/>
            <a:ext cx="6629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Example 1: To squeeze number of spaces by single space:</a:t>
            </a:r>
          </a:p>
          <a:p>
            <a:endParaRPr lang="en-US" dirty="0" smtClean="0"/>
          </a:p>
          <a:p>
            <a:pPr marL="0" lvl="1"/>
            <a:r>
              <a:rPr lang="en-US" dirty="0" smtClean="0">
                <a:latin typeface="Candara"/>
              </a:rPr>
              <a:t>$ </a:t>
            </a:r>
            <a:r>
              <a:rPr lang="en-US" dirty="0" err="1" smtClean="0">
                <a:latin typeface="Candara"/>
              </a:rPr>
              <a:t>tr</a:t>
            </a:r>
            <a:r>
              <a:rPr lang="en-US" dirty="0" smtClean="0">
                <a:latin typeface="Candara"/>
              </a:rPr>
              <a:t> –s “ ”  &lt; file1.txt</a:t>
            </a:r>
          </a:p>
          <a:p>
            <a:endParaRPr lang="en-US" dirty="0" smtClean="0"/>
          </a:p>
          <a:p>
            <a:pPr lvl="1">
              <a:lnSpc>
                <a:spcPct val="100000"/>
              </a:lnSpc>
              <a:buClrTx/>
            </a:pPr>
            <a:r>
              <a:rPr lang="en-US" dirty="0" smtClean="0">
                <a:latin typeface="Candara"/>
              </a:rPr>
              <a:t>$ </a:t>
            </a:r>
            <a:r>
              <a:rPr lang="en-US" dirty="0" err="1" smtClean="0">
                <a:latin typeface="Candara"/>
              </a:rPr>
              <a:t>tr</a:t>
            </a:r>
            <a:r>
              <a:rPr lang="en-US" dirty="0" smtClean="0">
                <a:latin typeface="Candara"/>
              </a:rPr>
              <a:t> “[a-z]” “[A-Z]” &lt; file1.txt</a:t>
            </a:r>
          </a:p>
          <a:p>
            <a:pPr lvl="1">
              <a:lnSpc>
                <a:spcPct val="100000"/>
              </a:lnSpc>
              <a:buClrTx/>
            </a:pPr>
            <a:r>
              <a:rPr lang="en-US" dirty="0" smtClean="0">
                <a:latin typeface="Candara"/>
              </a:rPr>
              <a:t>ONE</a:t>
            </a:r>
          </a:p>
          <a:p>
            <a:pPr lvl="1">
              <a:lnSpc>
                <a:spcPct val="100000"/>
              </a:lnSpc>
              <a:buClrTx/>
            </a:pPr>
            <a:r>
              <a:rPr lang="en-US" dirty="0" smtClean="0">
                <a:latin typeface="Candara"/>
              </a:rPr>
              <a:t>TWO</a:t>
            </a:r>
          </a:p>
          <a:p>
            <a:pPr lvl="1">
              <a:lnSpc>
                <a:spcPct val="100000"/>
              </a:lnSpc>
              <a:buClrTx/>
            </a:pPr>
            <a:r>
              <a:rPr lang="en-US" dirty="0" smtClean="0">
                <a:latin typeface="Candara"/>
              </a:rPr>
              <a:t>THREE</a:t>
            </a:r>
          </a:p>
          <a:p>
            <a:pPr lvl="1">
              <a:lnSpc>
                <a:spcPct val="100000"/>
              </a:lnSpc>
              <a:buClrTx/>
            </a:pPr>
            <a:r>
              <a:rPr lang="en-US" dirty="0" smtClean="0">
                <a:latin typeface="Candara"/>
              </a:rPr>
              <a:t>FOUR</a:t>
            </a:r>
          </a:p>
          <a:p>
            <a:pPr lvl="1">
              <a:lnSpc>
                <a:spcPct val="100000"/>
              </a:lnSpc>
              <a:buClrTx/>
            </a:pPr>
            <a:endParaRPr lang="en-US" dirty="0" smtClean="0">
              <a:latin typeface="Candara"/>
            </a:endParaRPr>
          </a:p>
          <a:p>
            <a:pPr lvl="1">
              <a:lnSpc>
                <a:spcPct val="100000"/>
              </a:lnSpc>
              <a:buClrTx/>
            </a:pPr>
            <a:endParaRPr lang="en-US" dirty="0" smtClean="0">
              <a:latin typeface="Candara"/>
            </a:endParaRPr>
          </a:p>
          <a:p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228600" y="3124200"/>
            <a:ext cx="838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tar command used to rip a collection of files and directories into highly compressed archive file</a:t>
            </a:r>
          </a:p>
          <a:p>
            <a:endParaRPr lang="en-US" dirty="0" smtClean="0"/>
          </a:p>
          <a:p>
            <a:r>
              <a:rPr lang="en-US" dirty="0" smtClean="0"/>
              <a:t>Tar file</a:t>
            </a:r>
          </a:p>
          <a:p>
            <a:endParaRPr lang="en-US" dirty="0" smtClean="0"/>
          </a:p>
          <a:p>
            <a:r>
              <a:rPr lang="nn-NO" b="1" dirty="0" smtClean="0"/>
              <a:t>$ tar -cvf file.tar file1 file2 file3</a:t>
            </a:r>
          </a:p>
          <a:p>
            <a:endParaRPr lang="nn-NO" b="1" dirty="0" smtClean="0"/>
          </a:p>
          <a:p>
            <a:r>
              <a:rPr lang="nn-NO" dirty="0" smtClean="0"/>
              <a:t>Untr  file</a:t>
            </a:r>
          </a:p>
          <a:p>
            <a:endParaRPr lang="nn-NO" dirty="0" smtClean="0"/>
          </a:p>
          <a:p>
            <a:r>
              <a:rPr lang="en-US" b="1" dirty="0" smtClean="0"/>
              <a:t>$ tar -</a:t>
            </a:r>
            <a:r>
              <a:rPr lang="en-US" b="1" dirty="0" err="1" smtClean="0"/>
              <a:t>xvf</a:t>
            </a:r>
            <a:r>
              <a:rPr lang="en-US" b="1" dirty="0" smtClean="0"/>
              <a:t> file.tar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0"/>
            <a:ext cx="8763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History Command</a:t>
            </a:r>
          </a:p>
          <a:p>
            <a:r>
              <a:rPr lang="en-US" dirty="0" smtClean="0"/>
              <a:t>History command shows all the commands that you have used in the past for the current terminal session.</a:t>
            </a:r>
          </a:p>
          <a:p>
            <a:endParaRPr lang="en-US" dirty="0" smtClean="0"/>
          </a:p>
          <a:p>
            <a:r>
              <a:rPr lang="en-US" b="1" dirty="0" smtClean="0"/>
              <a:t>$history</a:t>
            </a:r>
          </a:p>
          <a:p>
            <a:endParaRPr lang="en-US" b="1" dirty="0" smtClean="0"/>
          </a:p>
          <a:p>
            <a:r>
              <a:rPr lang="en-US" b="1" dirty="0" smtClean="0"/>
              <a:t>The clear command</a:t>
            </a:r>
          </a:p>
          <a:p>
            <a:r>
              <a:rPr lang="en-US" dirty="0" smtClean="0"/>
              <a:t>This command clears all the clutter on the terminal and gives you a clean window to work on</a:t>
            </a:r>
          </a:p>
          <a:p>
            <a:endParaRPr lang="en-US" b="1" dirty="0" smtClean="0"/>
          </a:p>
          <a:p>
            <a:r>
              <a:rPr lang="en-US" b="1" dirty="0" smtClean="0"/>
              <a:t>$clear</a:t>
            </a:r>
          </a:p>
          <a:p>
            <a:endParaRPr lang="en-US" b="1" dirty="0" smtClean="0"/>
          </a:p>
          <a:p>
            <a:r>
              <a:rPr lang="en-US" b="1" dirty="0" smtClean="0"/>
              <a:t>pr' command</a:t>
            </a:r>
          </a:p>
          <a:p>
            <a:r>
              <a:rPr lang="en-US" dirty="0" smtClean="0"/>
              <a:t>This command helps in formatting the file for printing on the terminal. </a:t>
            </a:r>
          </a:p>
          <a:p>
            <a:endParaRPr lang="en-US" b="1" dirty="0" smtClean="0"/>
          </a:p>
          <a:p>
            <a:r>
              <a:rPr lang="en-US" b="1" dirty="0" smtClean="0"/>
              <a:t>$pr file name</a:t>
            </a:r>
          </a:p>
          <a:p>
            <a:endParaRPr lang="en-US" b="1" dirty="0" smtClean="0"/>
          </a:p>
          <a:p>
            <a:r>
              <a:rPr lang="en-US" dirty="0" smtClean="0"/>
              <a:t>Denoting all lines with numbers</a:t>
            </a:r>
          </a:p>
          <a:p>
            <a:endParaRPr lang="en-US" dirty="0" smtClean="0"/>
          </a:p>
          <a:p>
            <a:r>
              <a:rPr lang="en-US" dirty="0" smtClean="0"/>
              <a:t>$pr –n filename</a:t>
            </a:r>
          </a:p>
          <a:p>
            <a:endParaRPr lang="en-US" dirty="0" smtClean="0"/>
          </a:p>
          <a:p>
            <a:r>
              <a:rPr lang="en-US" b="1" dirty="0" smtClean="0"/>
              <a:t>Assigning a header</a:t>
            </a:r>
          </a:p>
          <a:p>
            <a:endParaRPr lang="en-US" dirty="0" smtClean="0"/>
          </a:p>
          <a:p>
            <a:r>
              <a:rPr lang="en-US" b="1" dirty="0" smtClean="0"/>
              <a:t>$pr –h “Header of the file” filename</a:t>
            </a:r>
            <a:r>
              <a:rPr lang="en-US" dirty="0" smtClean="0"/>
              <a:t> 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868133" cy="67403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Find Command: </a:t>
            </a:r>
            <a:r>
              <a:rPr lang="en-US" dirty="0" smtClean="0"/>
              <a:t>The Unix find command is a powerful utility to search for files </a:t>
            </a:r>
          </a:p>
          <a:p>
            <a:r>
              <a:rPr lang="en-US" dirty="0" smtClean="0"/>
              <a:t>or directories</a:t>
            </a:r>
          </a:p>
          <a:p>
            <a:endParaRPr lang="en-US" b="1" dirty="0" smtClean="0"/>
          </a:p>
          <a:p>
            <a:r>
              <a:rPr lang="en-US" b="1" dirty="0" smtClean="0"/>
              <a:t>List all files found in the current directory and its hierarchy</a:t>
            </a:r>
          </a:p>
          <a:p>
            <a:endParaRPr lang="en-US" b="1" dirty="0" smtClean="0"/>
          </a:p>
          <a:p>
            <a:r>
              <a:rPr lang="en-US" b="1" dirty="0" smtClean="0"/>
              <a:t>$find</a:t>
            </a:r>
          </a:p>
          <a:p>
            <a:endParaRPr lang="en-US" b="1" dirty="0" smtClean="0"/>
          </a:p>
          <a:p>
            <a:r>
              <a:rPr lang="en-US" dirty="0" smtClean="0"/>
              <a:t>List all files found in the current hierarchy, and all the </a:t>
            </a:r>
          </a:p>
          <a:p>
            <a:r>
              <a:rPr lang="en-US" dirty="0" smtClean="0"/>
              <a:t>hierarchy below /demo1</a:t>
            </a:r>
          </a:p>
          <a:p>
            <a:endParaRPr lang="en-US" b="1" dirty="0" smtClean="0"/>
          </a:p>
          <a:p>
            <a:r>
              <a:rPr lang="en-US" b="1" dirty="0" smtClean="0"/>
              <a:t>$find demo1</a:t>
            </a:r>
          </a:p>
          <a:p>
            <a:endParaRPr lang="en-US" b="1" dirty="0" smtClean="0"/>
          </a:p>
          <a:p>
            <a:r>
              <a:rPr lang="en-US" dirty="0" smtClean="0"/>
              <a:t>Search for a file by the name </a:t>
            </a:r>
            <a:r>
              <a:rPr lang="en-US" dirty="0" err="1" smtClean="0"/>
              <a:t>abc</a:t>
            </a:r>
            <a:r>
              <a:rPr lang="en-US" dirty="0" smtClean="0"/>
              <a:t> in the current directory and</a:t>
            </a:r>
          </a:p>
          <a:p>
            <a:r>
              <a:rPr lang="en-US" dirty="0" smtClean="0"/>
              <a:t> its hierarchy</a:t>
            </a:r>
          </a:p>
          <a:p>
            <a:endParaRPr lang="en-US" dirty="0" smtClean="0"/>
          </a:p>
          <a:p>
            <a:r>
              <a:rPr lang="en-US" b="1" dirty="0" smtClean="0"/>
              <a:t>$find demo –name file1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Search for a directory by the name demo1 in the current directory </a:t>
            </a:r>
          </a:p>
          <a:p>
            <a:r>
              <a:rPr lang="en-US" b="1" dirty="0" smtClean="0"/>
              <a:t>and its hierarchy</a:t>
            </a:r>
          </a:p>
          <a:p>
            <a:endParaRPr lang="en-US" dirty="0" smtClean="0"/>
          </a:p>
          <a:p>
            <a:r>
              <a:rPr lang="en-US" dirty="0" smtClean="0"/>
              <a:t>$ find  ./ -type d -name xyz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1000" y="228600"/>
            <a:ext cx="83058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cat  &gt;</a:t>
            </a:r>
            <a:r>
              <a:rPr lang="en-US" b="1" dirty="0" err="1" smtClean="0"/>
              <a:t>demo_file</a:t>
            </a:r>
            <a:endParaRPr lang="en-US" b="1" dirty="0" smtClean="0"/>
          </a:p>
          <a:p>
            <a:r>
              <a:rPr lang="en-US" dirty="0" smtClean="0"/>
              <a:t>THIS LINE IS THE 1ST UPPER CASE LINE IN THIS FILE.</a:t>
            </a:r>
          </a:p>
          <a:p>
            <a:r>
              <a:rPr lang="en-US" dirty="0" smtClean="0"/>
              <a:t>this line is the 1st lower case line in this file.</a:t>
            </a:r>
          </a:p>
          <a:p>
            <a:r>
              <a:rPr lang="en-US" dirty="0" smtClean="0"/>
              <a:t>This Line Has All Its First Character Of The Word With Upper Case.</a:t>
            </a:r>
          </a:p>
          <a:p>
            <a:endParaRPr lang="en-US" dirty="0" smtClean="0"/>
          </a:p>
          <a:p>
            <a:r>
              <a:rPr lang="en-US" dirty="0" smtClean="0"/>
              <a:t>Two lines above this line is empty.</a:t>
            </a:r>
          </a:p>
          <a:p>
            <a:r>
              <a:rPr lang="en-US" dirty="0" smtClean="0"/>
              <a:t>And this is the last line.</a:t>
            </a:r>
          </a:p>
          <a:p>
            <a:endParaRPr lang="en-US" dirty="0" smtClean="0"/>
          </a:p>
          <a:p>
            <a:r>
              <a:rPr lang="en-US" dirty="0" smtClean="0"/>
              <a:t>Search for the given string in a single file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grep</a:t>
            </a:r>
            <a:r>
              <a:rPr lang="en-US" b="1" dirty="0" smtClean="0"/>
              <a:t> “this” </a:t>
            </a:r>
            <a:r>
              <a:rPr lang="en-US" b="1" dirty="0" err="1" smtClean="0"/>
              <a:t>demo_file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Checking for the given string in multiple files.</a:t>
            </a:r>
          </a:p>
          <a:p>
            <a:endParaRPr lang="en-US" dirty="0" smtClean="0"/>
          </a:p>
          <a:p>
            <a:r>
              <a:rPr lang="en-US" b="1" dirty="0" smtClean="0"/>
              <a:t>$ </a:t>
            </a:r>
            <a:r>
              <a:rPr lang="en-US" b="1" dirty="0" err="1" smtClean="0"/>
              <a:t>grep</a:t>
            </a:r>
            <a:r>
              <a:rPr lang="en-US" b="1" dirty="0" smtClean="0"/>
              <a:t> "this" demo_*</a:t>
            </a:r>
          </a:p>
          <a:p>
            <a:endParaRPr lang="en-US" b="1" dirty="0" smtClean="0"/>
          </a:p>
          <a:p>
            <a:r>
              <a:rPr lang="en-US" dirty="0" smtClean="0"/>
              <a:t>Case insensitive search using </a:t>
            </a:r>
            <a:r>
              <a:rPr lang="en-US" dirty="0" err="1" smtClean="0"/>
              <a:t>grep</a:t>
            </a:r>
            <a:r>
              <a:rPr lang="en-US" dirty="0" smtClean="0"/>
              <a:t> -</a:t>
            </a:r>
            <a:r>
              <a:rPr lang="en-US" dirty="0" err="1" smtClean="0"/>
              <a:t>i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grep</a:t>
            </a:r>
            <a:r>
              <a:rPr lang="en-US" b="1" dirty="0" smtClean="0"/>
              <a:t>  -</a:t>
            </a:r>
            <a:r>
              <a:rPr lang="en-US" b="1" dirty="0" err="1" smtClean="0"/>
              <a:t>i</a:t>
            </a:r>
            <a:r>
              <a:rPr lang="en-US" b="1" dirty="0" smtClean="0"/>
              <a:t>  “this”  </a:t>
            </a:r>
            <a:r>
              <a:rPr lang="en-US" b="1" dirty="0" err="1" smtClean="0"/>
              <a:t>demo_file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Start with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grep</a:t>
            </a:r>
            <a:r>
              <a:rPr lang="en-US" b="1" dirty="0" smtClean="0"/>
              <a:t> “^this” </a:t>
            </a:r>
            <a:r>
              <a:rPr lang="en-US" b="1" dirty="0" err="1" smtClean="0"/>
              <a:t>demo_file</a:t>
            </a:r>
            <a:endParaRPr lang="en-US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1"/>
            <a:ext cx="670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 Checking for full words, not for sub-strings using </a:t>
            </a:r>
            <a:r>
              <a:rPr lang="en-US" dirty="0" err="1" smtClean="0"/>
              <a:t>grep</a:t>
            </a:r>
            <a:r>
              <a:rPr lang="en-US" dirty="0" smtClean="0"/>
              <a:t> –w</a:t>
            </a:r>
          </a:p>
          <a:p>
            <a:endParaRPr lang="en-US" dirty="0" smtClean="0"/>
          </a:p>
          <a:p>
            <a:r>
              <a:rPr lang="en-US" b="1" dirty="0" smtClean="0"/>
              <a:t>$</a:t>
            </a:r>
            <a:r>
              <a:rPr lang="en-US" b="1" dirty="0" err="1" smtClean="0"/>
              <a:t>grep</a:t>
            </a:r>
            <a:r>
              <a:rPr lang="en-US" b="1" dirty="0" smtClean="0"/>
              <a:t> –w is </a:t>
            </a:r>
            <a:r>
              <a:rPr lang="en-US" b="1" dirty="0" err="1" smtClean="0"/>
              <a:t>demo_file</a:t>
            </a:r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Searching in all files recursively using </a:t>
            </a:r>
            <a:r>
              <a:rPr lang="en-US" dirty="0" err="1" smtClean="0"/>
              <a:t>grep</a:t>
            </a:r>
            <a:r>
              <a:rPr lang="en-US" dirty="0" smtClean="0"/>
              <a:t> -r</a:t>
            </a:r>
          </a:p>
          <a:p>
            <a:endParaRPr lang="en-US" b="1" dirty="0" smtClean="0"/>
          </a:p>
          <a:p>
            <a:r>
              <a:rPr lang="en-US" dirty="0" err="1" smtClean="0"/>
              <a:t>grep</a:t>
            </a:r>
            <a:r>
              <a:rPr lang="en-US" dirty="0" smtClean="0"/>
              <a:t> -r “</a:t>
            </a:r>
            <a:r>
              <a:rPr lang="en-US" dirty="0" err="1" smtClean="0"/>
              <a:t>this_f</a:t>
            </a:r>
            <a:r>
              <a:rPr lang="en-US" dirty="0" smtClean="0"/>
              <a:t>" *</a:t>
            </a:r>
            <a:endParaRPr lang="en-US" b="1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381000"/>
            <a:ext cx="8001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u="sng" dirty="0" smtClean="0"/>
              <a:t>What is a Shell?</a:t>
            </a:r>
          </a:p>
          <a:p>
            <a:pPr algn="just"/>
            <a:r>
              <a:rPr lang="en-US" dirty="0" smtClean="0"/>
              <a:t>The shell is the agency that sits between the user and the Unix system.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Whenever a command is issued, it is the shell that acts as the command interpreter.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But the shell in Unix is much more than just a command processor. This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Shell is a process that creates an environment for you to work in.</a:t>
            </a:r>
          </a:p>
          <a:p>
            <a:pPr algn="just"/>
            <a:r>
              <a:rPr lang="en-US" dirty="0" smtClean="0"/>
              <a:t>When you login to UNIX machine you see a prompt because automatically a new shell process is started. This process will be terminated whenever user logs out.</a:t>
            </a:r>
          </a:p>
          <a:p>
            <a:pPr algn="just"/>
            <a:r>
              <a:rPr lang="en-US" dirty="0" smtClean="0"/>
              <a:t>How the command is executed</a:t>
            </a:r>
          </a:p>
          <a:p>
            <a:pPr algn="just"/>
            <a:endParaRPr lang="en-US" dirty="0" smtClean="0"/>
          </a:p>
          <a:p>
            <a:pPr algn="just">
              <a:buFontTx/>
              <a:buChar char="-"/>
            </a:pPr>
            <a:r>
              <a:rPr lang="en-US" dirty="0" smtClean="0"/>
              <a:t>The shell displays prompt and wait for you to enter a command</a:t>
            </a:r>
          </a:p>
          <a:p>
            <a:pPr algn="just">
              <a:buFontTx/>
              <a:buChar char="-"/>
            </a:pPr>
            <a:r>
              <a:rPr lang="en-US" dirty="0" smtClean="0"/>
              <a:t>When you type  any command it scans the command line and processes all </a:t>
            </a:r>
            <a:r>
              <a:rPr lang="en-US" dirty="0" err="1" smtClean="0"/>
              <a:t>metacharacters</a:t>
            </a:r>
            <a:r>
              <a:rPr lang="en-US" dirty="0" smtClean="0"/>
              <a:t> to recreate simplified command) </a:t>
            </a:r>
          </a:p>
          <a:p>
            <a:pPr algn="just">
              <a:buFontTx/>
              <a:buChar char="-"/>
            </a:pPr>
            <a:r>
              <a:rPr lang="en-US" dirty="0" smtClean="0"/>
              <a:t>Then it passes the command to kernel for execution</a:t>
            </a:r>
          </a:p>
          <a:p>
            <a:pPr algn="just">
              <a:buFontTx/>
              <a:buChar char="-"/>
            </a:pPr>
            <a:r>
              <a:rPr lang="en-US" dirty="0" smtClean="0"/>
              <a:t>And wait till execution of the command completes</a:t>
            </a:r>
          </a:p>
          <a:p>
            <a:pPr algn="just">
              <a:buFontTx/>
              <a:buChar char="-"/>
            </a:pPr>
            <a:endParaRPr lang="en-US" dirty="0" smtClean="0"/>
          </a:p>
          <a:p>
            <a:pPr algn="just">
              <a:buFontTx/>
              <a:buChar char="-"/>
            </a:pPr>
            <a:r>
              <a:rPr lang="en-US" dirty="0" smtClean="0"/>
              <a:t>After command execution is complete, it displays prompt again to take up the next command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304800"/>
            <a:ext cx="5943600" cy="317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Bourne Shell is:</a:t>
            </a:r>
          </a:p>
          <a:p>
            <a:pPr lvl="1">
              <a:lnSpc>
                <a:spcPct val="130000"/>
              </a:lnSpc>
            </a:pPr>
            <a:r>
              <a:rPr lang="en-US" sz="1600" dirty="0" smtClean="0"/>
              <a:t>Named after its founder Steve Bourne</a:t>
            </a:r>
          </a:p>
          <a:p>
            <a:pPr lvl="1">
              <a:lnSpc>
                <a:spcPct val="130000"/>
              </a:lnSpc>
            </a:pPr>
            <a:r>
              <a:rPr lang="en-US" dirty="0" smtClean="0"/>
              <a:t>widely used - </a:t>
            </a:r>
            <a:r>
              <a:rPr lang="en-US" dirty="0" err="1" smtClean="0"/>
              <a:t>sh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C Shell is:	</a:t>
            </a:r>
          </a:p>
          <a:p>
            <a:pPr lvl="1">
              <a:lnSpc>
                <a:spcPct val="130000"/>
              </a:lnSpc>
            </a:pPr>
            <a:r>
              <a:rPr lang="en-US" sz="1600" dirty="0" smtClean="0"/>
              <a:t>A product from the Univ. of California, Berkeley</a:t>
            </a:r>
          </a:p>
          <a:p>
            <a:pPr lvl="1">
              <a:lnSpc>
                <a:spcPct val="130000"/>
              </a:lnSpc>
            </a:pPr>
            <a:r>
              <a:rPr lang="en-US" dirty="0" smtClean="0"/>
              <a:t>An advanced user interface with enhanced features - </a:t>
            </a:r>
            <a:r>
              <a:rPr lang="en-US" dirty="0" err="1" smtClean="0"/>
              <a:t>csh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err="1" smtClean="0"/>
              <a:t>Korn</a:t>
            </a:r>
            <a:r>
              <a:rPr lang="en-US" dirty="0" smtClean="0"/>
              <a:t> Shell is:	</a:t>
            </a:r>
          </a:p>
          <a:p>
            <a:pPr lvl="1">
              <a:lnSpc>
                <a:spcPct val="115000"/>
              </a:lnSpc>
            </a:pPr>
            <a:r>
              <a:rPr lang="en-US" sz="1600" dirty="0" smtClean="0"/>
              <a:t>By David </a:t>
            </a:r>
            <a:r>
              <a:rPr lang="en-US" sz="1600" dirty="0" err="1" smtClean="0"/>
              <a:t>Korn</a:t>
            </a:r>
            <a:r>
              <a:rPr lang="en-US" sz="1600" dirty="0" smtClean="0"/>
              <a:t> of Bell Lab - </a:t>
            </a:r>
            <a:r>
              <a:rPr lang="en-US" sz="1600" dirty="0" err="1" smtClean="0"/>
              <a:t>ksh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990600" y="381000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Executables in /bin directory</a:t>
            </a:r>
          </a:p>
          <a:p>
            <a:pPr lvl="1">
              <a:lnSpc>
                <a:spcPct val="150000"/>
              </a:lnSpc>
            </a:pPr>
            <a:r>
              <a:rPr lang="en-US" dirty="0" err="1" smtClean="0"/>
              <a:t>sh</a:t>
            </a:r>
            <a:r>
              <a:rPr lang="en-US" dirty="0" smtClean="0"/>
              <a:t> indicates		- Bourne Shell</a:t>
            </a:r>
          </a:p>
          <a:p>
            <a:pPr lvl="1">
              <a:lnSpc>
                <a:spcPct val="150000"/>
              </a:lnSpc>
            </a:pPr>
            <a:r>
              <a:rPr lang="en-US" dirty="0" err="1" smtClean="0"/>
              <a:t>csh</a:t>
            </a:r>
            <a:r>
              <a:rPr lang="en-US" dirty="0" smtClean="0"/>
              <a:t> if present indicates	- C Shell</a:t>
            </a:r>
          </a:p>
          <a:p>
            <a:pPr lvl="1">
              <a:lnSpc>
                <a:spcPct val="150000"/>
              </a:lnSpc>
            </a:pPr>
            <a:r>
              <a:rPr lang="en-US" dirty="0" err="1" smtClean="0"/>
              <a:t>ksh</a:t>
            </a:r>
            <a:r>
              <a:rPr lang="en-US" dirty="0" smtClean="0"/>
              <a:t> if present indicated	- </a:t>
            </a:r>
            <a:r>
              <a:rPr lang="en-US" dirty="0" err="1" smtClean="0"/>
              <a:t>Korn</a:t>
            </a:r>
            <a:r>
              <a:rPr lang="en-US" dirty="0" smtClean="0"/>
              <a:t> Shell</a:t>
            </a:r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48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Performs following activities:</a:t>
            </a:r>
          </a:p>
          <a:p>
            <a:pPr lvl="1" algn="just"/>
            <a:endParaRPr lang="en-US" dirty="0" smtClean="0"/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Issues a $ prompt &amp; waits for user to enter a command.</a:t>
            </a:r>
          </a:p>
          <a:p>
            <a:pPr lvl="1" algn="just"/>
            <a:endParaRPr lang="en-US" dirty="0" smtClean="0"/>
          </a:p>
          <a:p>
            <a:pPr lvl="1" algn="just"/>
            <a:endParaRPr lang="en-US" dirty="0" smtClean="0"/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After user enters command, shell scans &amp; processes the command.</a:t>
            </a:r>
          </a:p>
          <a:p>
            <a:pPr lvl="1" algn="just"/>
            <a:endParaRPr lang="en-US" dirty="0" smtClean="0"/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The command is passed on to the Kernel for execution &amp; the shell waits for its conclusion.</a:t>
            </a:r>
          </a:p>
          <a:p>
            <a:pPr lvl="1" algn="just"/>
            <a:endParaRPr lang="en-US" dirty="0" smtClean="0"/>
          </a:p>
          <a:p>
            <a:pPr lvl="1" algn="just"/>
            <a:r>
              <a:rPr lang="en-US" dirty="0" smtClean="0"/>
              <a:t>The $ prompt appears so that the user can enter next command.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1166843"/>
            <a:ext cx="6858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Following are the Bourne Shell </a:t>
            </a:r>
            <a:r>
              <a:rPr lang="en-US" dirty="0" err="1" smtClean="0"/>
              <a:t>metacharacters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* : To match any number of characters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? : To match with a single character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[] : Character class; Matching with any single character </a:t>
            </a:r>
          </a:p>
          <a:p>
            <a:pPr lvl="1"/>
            <a:r>
              <a:rPr lang="en-US" dirty="0" smtClean="0"/>
              <a:t>specified within []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! : To reverse matching criteria of character class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\ : To remove special meaning attached to </a:t>
            </a:r>
            <a:r>
              <a:rPr lang="en-US" dirty="0" err="1" smtClean="0"/>
              <a:t>metacharacters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; : To give more than one command at the same prompt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All redirection operators &gt;, &lt;, &gt;&gt; are also shell </a:t>
            </a:r>
            <a:r>
              <a:rPr lang="en-US" dirty="0" err="1" smtClean="0"/>
              <a:t>metacharacters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609601"/>
            <a:ext cx="5715000" cy="4468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Every Unix command has access to:</a:t>
            </a:r>
          </a:p>
          <a:p>
            <a:pPr lvl="1"/>
            <a:r>
              <a:rPr lang="en-US" dirty="0" smtClean="0"/>
              <a:t>Standard input</a:t>
            </a:r>
          </a:p>
          <a:p>
            <a:pPr lvl="1"/>
            <a:r>
              <a:rPr lang="en-US" dirty="0" smtClean="0"/>
              <a:t>Standard output</a:t>
            </a:r>
          </a:p>
          <a:p>
            <a:pPr lvl="1"/>
            <a:r>
              <a:rPr lang="en-US" dirty="0" smtClean="0"/>
              <a:t>Standard error</a:t>
            </a:r>
          </a:p>
          <a:p>
            <a:pPr lvl="1">
              <a:buFont typeface="Arial" pitchFamily="34" charset="0"/>
              <a:buNone/>
            </a:pPr>
            <a:endParaRPr lang="en-US" dirty="0" smtClean="0"/>
          </a:p>
          <a:p>
            <a:r>
              <a:rPr lang="en-US" dirty="0" smtClean="0"/>
              <a:t>Shell can redirect I/p, o/p or error to any physical file using meta characters “&lt;“, “&gt;” &amp; “2&gt;”</a:t>
            </a:r>
          </a:p>
          <a:p>
            <a:endParaRPr lang="en-US" dirty="0" smtClean="0"/>
          </a:p>
          <a:p>
            <a:endParaRPr lang="en-US" dirty="0" smtClean="0"/>
          </a:p>
          <a:p>
            <a:pPr lvl="4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dirty="0" smtClean="0"/>
              <a:t>$ </a:t>
            </a:r>
            <a:r>
              <a:rPr lang="en-US" dirty="0" err="1" smtClean="0"/>
              <a:t>ls</a:t>
            </a:r>
            <a:r>
              <a:rPr lang="en-US" dirty="0" smtClean="0"/>
              <a:t> &gt; temp</a:t>
            </a:r>
          </a:p>
          <a:p>
            <a:pPr lvl="4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dirty="0" smtClean="0"/>
              <a:t>$ </a:t>
            </a:r>
            <a:r>
              <a:rPr lang="en-US" dirty="0" err="1" smtClean="0"/>
              <a:t>wc</a:t>
            </a:r>
            <a:r>
              <a:rPr lang="en-US" dirty="0" smtClean="0"/>
              <a:t> &lt; file1.txt &gt; result</a:t>
            </a:r>
          </a:p>
          <a:p>
            <a:pPr lvl="4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dirty="0" smtClean="0"/>
              <a:t>$ cat </a:t>
            </a:r>
            <a:r>
              <a:rPr lang="en-US" dirty="0" err="1" smtClean="0"/>
              <a:t>nonexistantfile</a:t>
            </a:r>
            <a:r>
              <a:rPr lang="en-US" dirty="0" smtClean="0"/>
              <a:t> 2&gt; err</a:t>
            </a:r>
          </a:p>
          <a:p>
            <a:endParaRPr lang="en-US" dirty="0" smtClean="0"/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457201"/>
            <a:ext cx="8153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Pipe - allows stream of data to be passed between reader &amp; writer process. </a:t>
            </a:r>
          </a:p>
          <a:p>
            <a:r>
              <a:rPr lang="en-US" dirty="0" smtClean="0"/>
              <a:t>O/p of first command is written into pipe and is input to the second command.</a:t>
            </a:r>
          </a:p>
          <a:p>
            <a:pPr lvl="1"/>
            <a:r>
              <a:rPr lang="en-US" dirty="0" smtClean="0"/>
              <a:t>$ who | </a:t>
            </a:r>
            <a:r>
              <a:rPr lang="en-US" dirty="0" err="1" smtClean="0"/>
              <a:t>wc</a:t>
            </a:r>
            <a:r>
              <a:rPr lang="en-US" dirty="0" smtClean="0"/>
              <a:t> -l</a:t>
            </a:r>
          </a:p>
          <a:p>
            <a:pPr lvl="1"/>
            <a:r>
              <a:rPr lang="en-US" dirty="0" smtClean="0"/>
              <a:t>$ </a:t>
            </a:r>
            <a:r>
              <a:rPr lang="en-US" dirty="0" err="1" smtClean="0"/>
              <a:t>ls</a:t>
            </a:r>
            <a:r>
              <a:rPr lang="en-US" dirty="0" smtClean="0"/>
              <a:t> | </a:t>
            </a:r>
            <a:r>
              <a:rPr lang="en-US" dirty="0" err="1" smtClean="0"/>
              <a:t>wc</a:t>
            </a:r>
            <a:r>
              <a:rPr lang="en-US" dirty="0" smtClean="0"/>
              <a:t> –l</a:t>
            </a:r>
          </a:p>
          <a:p>
            <a:pPr lvl="1"/>
            <a:r>
              <a:rPr lang="en-US" dirty="0" smtClean="0"/>
              <a:t>$ </a:t>
            </a:r>
            <a:r>
              <a:rPr lang="en-US" dirty="0" err="1" smtClean="0"/>
              <a:t>ls</a:t>
            </a:r>
            <a:r>
              <a:rPr lang="en-US" dirty="0" smtClean="0"/>
              <a:t> | </a:t>
            </a:r>
            <a:r>
              <a:rPr lang="en-US" dirty="0" err="1" smtClean="0"/>
              <a:t>wc</a:t>
            </a:r>
            <a:r>
              <a:rPr lang="en-US" dirty="0" smtClean="0"/>
              <a:t> -l &gt; </a:t>
            </a:r>
            <a:r>
              <a:rPr lang="en-US" dirty="0" err="1" smtClean="0"/>
              <a:t>fcount</a:t>
            </a:r>
            <a:endParaRPr lang="en-US" dirty="0" smtClean="0"/>
          </a:p>
          <a:p>
            <a:pPr lvl="1"/>
            <a:r>
              <a:rPr lang="en-US" dirty="0" smtClean="0">
                <a:cs typeface="Times New Roman" pitchFamily="18" charset="0"/>
              </a:rPr>
              <a:t>$cat file1.txt | </a:t>
            </a:r>
            <a:r>
              <a:rPr lang="en-US" dirty="0" err="1" smtClean="0">
                <a:cs typeface="Times New Roman" pitchFamily="18" charset="0"/>
              </a:rPr>
              <a:t>wc</a:t>
            </a:r>
            <a:r>
              <a:rPr lang="en-US" dirty="0" smtClean="0">
                <a:cs typeface="Times New Roman" pitchFamily="18" charset="0"/>
              </a:rPr>
              <a:t> –l   ( To display number of lines in file file1.txt)</a:t>
            </a:r>
          </a:p>
          <a:p>
            <a:pPr lvl="1"/>
            <a:endParaRPr lang="en-US" dirty="0" smtClean="0">
              <a:cs typeface="Times New Roman" pitchFamily="18" charset="0"/>
            </a:endParaRP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85800"/>
            <a:ext cx="7924800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u="sng" dirty="0" smtClean="0"/>
              <a:t>What is Command Substitution?</a:t>
            </a:r>
          </a:p>
          <a:p>
            <a:pPr algn="just"/>
            <a:r>
              <a:rPr lang="en-US" dirty="0" smtClean="0"/>
              <a:t>The shell allows the argument of a command to be obtained from the output of another command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is done by using a pair of </a:t>
            </a:r>
            <a:r>
              <a:rPr lang="en-US" dirty="0" err="1" smtClean="0"/>
              <a:t>backquotes</a:t>
            </a:r>
            <a:r>
              <a:rPr lang="en-US" dirty="0" smtClean="0"/>
              <a:t>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 smtClean="0"/>
              <a:t>backquoted</a:t>
            </a:r>
            <a:r>
              <a:rPr lang="en-US" dirty="0" smtClean="0"/>
              <a:t> command is executed first. The output of command is substituted in place of command.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Then outer command will get executed. </a:t>
            </a:r>
          </a:p>
          <a:p>
            <a:pPr algn="just"/>
            <a:r>
              <a:rPr lang="en-US" b="1" u="sng" dirty="0" smtClean="0"/>
              <a:t>Example:</a:t>
            </a:r>
          </a:p>
          <a:p>
            <a:pPr marL="1588" lvl="1" algn="just"/>
            <a:endParaRPr lang="en-US" b="1" u="sng" dirty="0" smtClean="0">
              <a:solidFill>
                <a:srgbClr val="A11133"/>
              </a:solidFill>
            </a:endParaRPr>
          </a:p>
          <a:p>
            <a:pPr marL="0" lvl="1">
              <a:spcBef>
                <a:spcPct val="50000"/>
              </a:spcBef>
            </a:pPr>
            <a:r>
              <a:rPr lang="en-US" dirty="0" smtClean="0"/>
              <a:t>$ cal `date "+%m 20%y"`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8550739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What is Shell Script?</a:t>
            </a:r>
          </a:p>
          <a:p>
            <a:endParaRPr lang="en-US" dirty="0" smtClean="0"/>
          </a:p>
          <a:p>
            <a:r>
              <a:rPr lang="en-US" dirty="0" smtClean="0"/>
              <a:t>Group of commands that need to be executed frequently can be stored in a file,</a:t>
            </a:r>
          </a:p>
          <a:p>
            <a:r>
              <a:rPr lang="en-US" dirty="0" smtClean="0"/>
              <a:t> called as a shell script or a shell program.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$ cat script2.sh</a:t>
            </a:r>
          </a:p>
          <a:p>
            <a:r>
              <a:rPr lang="en-US" dirty="0" smtClean="0"/>
              <a:t>echo 'Enter your name:</a:t>
            </a:r>
          </a:p>
          <a:p>
            <a:r>
              <a:rPr lang="en-US" dirty="0" smtClean="0"/>
              <a:t>read </a:t>
            </a:r>
            <a:r>
              <a:rPr lang="en-US" dirty="0" err="1" smtClean="0"/>
              <a:t>uname</a:t>
            </a:r>
            <a:endParaRPr lang="en-US" dirty="0" smtClean="0"/>
          </a:p>
          <a:p>
            <a:r>
              <a:rPr lang="en-US" dirty="0" smtClean="0"/>
              <a:t>echo “hi $</a:t>
            </a:r>
            <a:r>
              <a:rPr lang="en-US" dirty="0" err="1" smtClean="0"/>
              <a:t>uname</a:t>
            </a:r>
            <a:r>
              <a:rPr lang="en-US" smtClean="0"/>
              <a:t>”</a:t>
            </a:r>
          </a:p>
          <a:p>
            <a:r>
              <a:rPr lang="en-US" smtClean="0"/>
              <a:t>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9881662</TotalTime>
  <Words>2332</Words>
  <Application>Microsoft Office PowerPoint</Application>
  <PresentationFormat>On-screen Show (4:3)</PresentationFormat>
  <Paragraphs>903</Paragraphs>
  <Slides>60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Oriel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153</cp:revision>
  <dcterms:created xsi:type="dcterms:W3CDTF">2018-01-04T03:17:43Z</dcterms:created>
  <dcterms:modified xsi:type="dcterms:W3CDTF">2019-05-25T04:06:10Z</dcterms:modified>
</cp:coreProperties>
</file>